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lary" id="{51538cec-5bd6-4cc5-f3d3-9949bb147e61}">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sir. My project is about salaries of Texas state government employees. I studied the data and also built a model to predict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has 149,481 employee records and 21 columns. It has agency, gender, ethnicity, job status and pay details like hourly rate, monthly and annual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had three goals. First, understand how salary differs between people. Second, build a model that can predict annual salary. Third, find useful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steps I followed: load the data, clean it, explore it with charts, build the model, and then write the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data is never perfect. I checked missing values and duplicates, removed columns that are not useful like names and job codes, removed very high or very low values called outliers, and fixed the date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understands only numbers. So I split the date into year, month and day, changed text columns like gender and status into numbers, and scaled all values between 0 and 1. Then I kept 80 percent data to train the model and 20 percent to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charts I found these points: Asians have the highest yearly pay, males earn more than females, each agency pays differently, and ERF and URF status employees earn the most. ERF means Exempt Regular Full-time and URF means Unclassified Regular Full-time.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Linear Regression. R2 score is 1.0 which means perfect, and error is almost zero. The reason is that Monthly pay was kept as an input and Annual pay is just Monthly times 12, so the model easily finds it. Next step is to remove Monthly and Hourly rate and test again to get a realistic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insights: ERF and URF employees earn the most. Salary and total compensation change slowly over the years. And pay is different for each role and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studied more than 1.5 lakh Texas employee records, found that pay depends on agency, status and other things, and built a prediction model. Next step is to improve the model by removing Monthly pay. Thank you 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HIT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NT">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1005840"/>
            <a:ext cx="822960" cy="822960"/>
          </a:xfrm>
          <a:prstGeom prst="ellipse">
            <a:avLst/>
          </a:prstGeom>
          <a:solidFill>
            <a:schemeClr val="accent1"/>
          </a:solidFill>
          <a:ln/>
        </p:spPr>
      </p:sp>
      <p:pic>
        <p:nvPicPr>
          <p:cNvPr id="3" name="Image 0" descr="Money icon">    </p:cNvPr>
          <p:cNvPicPr>
            <a:picLocks noChangeAspect="1"/>
          </p:cNvPicPr>
          <p:nvPr/>
        </p:nvPicPr>
        <p:blipFill>
          <a:blip r:embed="rId1"/>
          <a:stretch>
            <a:fillRect/>
          </a:stretch>
        </p:blipFill>
        <p:spPr>
          <a:xfrm>
            <a:off x="914400" y="1188720"/>
            <a:ext cx="457200" cy="457200"/>
          </a:xfrm>
          <a:prstGeom prst="rect">
            <a:avLst/>
          </a:prstGeom>
        </p:spPr>
      </p:pic>
      <p:sp>
        <p:nvSpPr>
          <p:cNvPr id="4" name="Text 1"/>
          <p:cNvSpPr txBox="1"/>
          <p:nvPr/>
        </p:nvSpPr>
        <p:spPr>
          <a:xfrm>
            <a:off x="731520" y="1828800"/>
            <a:ext cx="7863840" cy="1005840"/>
          </a:xfrm>
          <a:prstGeom prst="rect">
            <a:avLst/>
          </a:prstGeom>
          <a:noFill/>
          <a:ln/>
        </p:spPr>
        <p:txBody>
          <a:bodyPr wrap="square" lIns="0" tIns="0" rIns="0" bIns="0" rtlCol="0" anchor="ctr"/>
          <a:lstStyle/>
          <a:p>
            <a:pPr indent="0" marL="0">
              <a:buNone/>
            </a:pPr>
            <a:r>
              <a:rPr lang="en-US" sz="4400" b="1" dirty="0">
                <a:solidFill>
                  <a:schemeClr val="tx1"/>
                </a:solidFill>
                <a:latin typeface="+mj-lt" pitchFamily="34" charset="0"/>
                <a:ea typeface="+mj-lt" pitchFamily="34" charset="-122"/>
                <a:cs typeface="+mj-lt" pitchFamily="34" charset="-120"/>
              </a:rPr>
              <a:t>Texas State Employee Salary</a:t>
            </a:r>
            <a:endParaRPr lang="en-US" sz="4400" dirty="0"/>
          </a:p>
        </p:txBody>
      </p:sp>
      <p:sp>
        <p:nvSpPr>
          <p:cNvPr id="5" name="Text 2"/>
          <p:cNvSpPr txBox="1"/>
          <p:nvPr/>
        </p:nvSpPr>
        <p:spPr>
          <a:xfrm>
            <a:off x="731520" y="2880360"/>
            <a:ext cx="7680960" cy="548640"/>
          </a:xfrm>
          <a:prstGeom prst="rect">
            <a:avLst/>
          </a:prstGeom>
          <a:noFill/>
          <a:ln/>
        </p:spPr>
        <p:txBody>
          <a:bodyPr wrap="square" lIns="0" tIns="0" rIns="0" bIns="0" rtlCol="0" anchor="ctr"/>
          <a:lstStyle/>
          <a:p>
            <a:pPr indent="0" marL="0">
              <a:buNone/>
            </a:pPr>
            <a:r>
              <a:rPr lang="en-US" sz="2600" dirty="0">
                <a:solidFill>
                  <a:schemeClr val="accent1"/>
                </a:solidFill>
              </a:rPr>
              <a:t>Analysis &amp; Prediction</a:t>
            </a:r>
            <a:endParaRPr lang="en-US" sz="2600" dirty="0"/>
          </a:p>
        </p:txBody>
      </p:sp>
      <p:sp>
        <p:nvSpPr>
          <p:cNvPr id="6" name="Text 3"/>
          <p:cNvSpPr txBox="1"/>
          <p:nvPr/>
        </p:nvSpPr>
        <p:spPr>
          <a:xfrm>
            <a:off x="731520" y="3474720"/>
            <a:ext cx="7680960" cy="457200"/>
          </a:xfrm>
          <a:prstGeom prst="rect">
            <a:avLst/>
          </a:prstGeom>
          <a:noFill/>
          <a:ln/>
        </p:spPr>
        <p:txBody>
          <a:bodyPr wrap="square" lIns="0" tIns="0" rIns="0" bIns="0" rtlCol="0" anchor="ctr"/>
          <a:lstStyle/>
          <a:p>
            <a:pPr indent="0" marL="0">
              <a:buNone/>
            </a:pPr>
            <a:r>
              <a:rPr lang="en-US" sz="2000" dirty="0">
                <a:solidFill>
                  <a:schemeClr val="tx1"/>
                </a:solidFill>
              </a:rPr>
              <a:t>Summer Internship Project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About the Data</a:t>
            </a:r>
            <a:endParaRPr lang="en-US" sz="3600" dirty="0"/>
          </a:p>
        </p:txBody>
      </p:sp>
      <p:sp>
        <p:nvSpPr>
          <p:cNvPr id="3" name="Stat 1"/>
          <p:cNvSpPr/>
          <p:nvPr/>
        </p:nvSpPr>
        <p:spPr>
          <a:xfrm>
            <a:off x="548640" y="1371600"/>
            <a:ext cx="2560320" cy="1737360"/>
          </a:xfrm>
          <a:prstGeom prst="roundRect">
            <a:avLst>
              <a:gd name="adj" fmla="val 6316"/>
            </a:avLst>
          </a:prstGeom>
          <a:solidFill>
            <a:schemeClr val="bg2"/>
          </a:solidFill>
          <a:ln/>
        </p:spPr>
      </p:sp>
      <p:sp>
        <p:nvSpPr>
          <p:cNvPr id="4" name="Text 2"/>
          <p:cNvSpPr txBox="1"/>
          <p:nvPr/>
        </p:nvSpPr>
        <p:spPr>
          <a:xfrm>
            <a:off x="548640" y="1508760"/>
            <a:ext cx="2560320" cy="822960"/>
          </a:xfrm>
          <a:prstGeom prst="rect">
            <a:avLst/>
          </a:prstGeom>
          <a:noFill/>
          <a:ln/>
        </p:spPr>
        <p:txBody>
          <a:bodyPr wrap="square" lIns="0" tIns="0" rIns="0" bIns="0" rtlCol="0" anchor="ctr"/>
          <a:lstStyle/>
          <a:p>
            <a:pPr algn="ctr" indent="0" marL="0">
              <a:buNone/>
            </a:pPr>
            <a:r>
              <a:rPr lang="en-US" sz="4400" b="1" dirty="0">
                <a:solidFill>
                  <a:schemeClr val="accent1"/>
                </a:solidFill>
              </a:rPr>
              <a:t>149,481</a:t>
            </a:r>
            <a:endParaRPr lang="en-US" sz="4400" dirty="0"/>
          </a:p>
        </p:txBody>
      </p:sp>
      <p:sp>
        <p:nvSpPr>
          <p:cNvPr id="5" name="Text 3"/>
          <p:cNvSpPr txBox="1"/>
          <p:nvPr/>
        </p:nvSpPr>
        <p:spPr>
          <a:xfrm>
            <a:off x="548640" y="2377440"/>
            <a:ext cx="2560320" cy="457200"/>
          </a:xfrm>
          <a:prstGeom prst="rect">
            <a:avLst/>
          </a:prstGeom>
          <a:noFill/>
          <a:ln/>
        </p:spPr>
        <p:txBody>
          <a:bodyPr wrap="square" lIns="0" tIns="0" rIns="0" bIns="0" rtlCol="0" anchor="ctr"/>
          <a:lstStyle/>
          <a:p>
            <a:pPr algn="ctr" indent="0" marL="0">
              <a:buNone/>
            </a:pPr>
            <a:r>
              <a:rPr lang="en-US" sz="1800" dirty="0">
                <a:solidFill>
                  <a:schemeClr val="tx1"/>
                </a:solidFill>
              </a:rPr>
              <a:t>employees (rows)</a:t>
            </a:r>
            <a:endParaRPr lang="en-US" sz="1800" dirty="0"/>
          </a:p>
        </p:txBody>
      </p:sp>
      <p:sp>
        <p:nvSpPr>
          <p:cNvPr id="6" name="Stat 2"/>
          <p:cNvSpPr/>
          <p:nvPr/>
        </p:nvSpPr>
        <p:spPr>
          <a:xfrm>
            <a:off x="3291840" y="1371600"/>
            <a:ext cx="2560320" cy="1737360"/>
          </a:xfrm>
          <a:prstGeom prst="roundRect">
            <a:avLst>
              <a:gd name="adj" fmla="val 6316"/>
            </a:avLst>
          </a:prstGeom>
          <a:solidFill>
            <a:schemeClr val="bg2"/>
          </a:solidFill>
          <a:ln/>
        </p:spPr>
      </p:sp>
      <p:sp>
        <p:nvSpPr>
          <p:cNvPr id="7" name="Text 5"/>
          <p:cNvSpPr txBox="1"/>
          <p:nvPr/>
        </p:nvSpPr>
        <p:spPr>
          <a:xfrm>
            <a:off x="3291840" y="1508760"/>
            <a:ext cx="2560320" cy="822960"/>
          </a:xfrm>
          <a:prstGeom prst="rect">
            <a:avLst/>
          </a:prstGeom>
          <a:noFill/>
          <a:ln/>
        </p:spPr>
        <p:txBody>
          <a:bodyPr wrap="square" lIns="0" tIns="0" rIns="0" bIns="0" rtlCol="0" anchor="ctr"/>
          <a:lstStyle/>
          <a:p>
            <a:pPr algn="ctr" indent="0" marL="0">
              <a:buNone/>
            </a:pPr>
            <a:r>
              <a:rPr lang="en-US" sz="4400" b="1" dirty="0">
                <a:solidFill>
                  <a:schemeClr val="accent1"/>
                </a:solidFill>
              </a:rPr>
              <a:t>21</a:t>
            </a:r>
            <a:endParaRPr lang="en-US" sz="4400" dirty="0"/>
          </a:p>
        </p:txBody>
      </p:sp>
      <p:sp>
        <p:nvSpPr>
          <p:cNvPr id="8" name="Text 6"/>
          <p:cNvSpPr txBox="1"/>
          <p:nvPr/>
        </p:nvSpPr>
        <p:spPr>
          <a:xfrm>
            <a:off x="3291840" y="2377440"/>
            <a:ext cx="2560320" cy="457200"/>
          </a:xfrm>
          <a:prstGeom prst="rect">
            <a:avLst/>
          </a:prstGeom>
          <a:noFill/>
          <a:ln/>
        </p:spPr>
        <p:txBody>
          <a:bodyPr wrap="square" lIns="0" tIns="0" rIns="0" bIns="0" rtlCol="0" anchor="ctr"/>
          <a:lstStyle/>
          <a:p>
            <a:pPr algn="ctr" indent="0" marL="0">
              <a:buNone/>
            </a:pPr>
            <a:r>
              <a:rPr lang="en-US" sz="1800" dirty="0">
                <a:solidFill>
                  <a:schemeClr val="tx1"/>
                </a:solidFill>
              </a:rPr>
              <a:t>columns</a:t>
            </a:r>
            <a:endParaRPr lang="en-US" sz="1800" dirty="0"/>
          </a:p>
        </p:txBody>
      </p:sp>
      <p:sp>
        <p:nvSpPr>
          <p:cNvPr id="9" name="Stat 3"/>
          <p:cNvSpPr/>
          <p:nvPr/>
        </p:nvSpPr>
        <p:spPr>
          <a:xfrm>
            <a:off x="6035040" y="1371600"/>
            <a:ext cx="2560320" cy="1737360"/>
          </a:xfrm>
          <a:prstGeom prst="roundRect">
            <a:avLst>
              <a:gd name="adj" fmla="val 6316"/>
            </a:avLst>
          </a:prstGeom>
          <a:solidFill>
            <a:schemeClr val="bg2"/>
          </a:solidFill>
          <a:ln/>
        </p:spPr>
      </p:sp>
      <p:sp>
        <p:nvSpPr>
          <p:cNvPr id="10" name="Text 8"/>
          <p:cNvSpPr txBox="1"/>
          <p:nvPr/>
        </p:nvSpPr>
        <p:spPr>
          <a:xfrm>
            <a:off x="6035040" y="1508760"/>
            <a:ext cx="2560320" cy="822960"/>
          </a:xfrm>
          <a:prstGeom prst="rect">
            <a:avLst/>
          </a:prstGeom>
          <a:noFill/>
          <a:ln/>
        </p:spPr>
        <p:txBody>
          <a:bodyPr wrap="square" lIns="0" tIns="0" rIns="0" bIns="0" rtlCol="0" anchor="ctr"/>
          <a:lstStyle/>
          <a:p>
            <a:pPr algn="ctr" indent="0" marL="0">
              <a:buNone/>
            </a:pPr>
            <a:r>
              <a:rPr lang="en-US" sz="4400" b="1" dirty="0">
                <a:solidFill>
                  <a:schemeClr val="accent1"/>
                </a:solidFill>
              </a:rPr>
              <a:t>Texas</a:t>
            </a:r>
            <a:endParaRPr lang="en-US" sz="4400" dirty="0"/>
          </a:p>
        </p:txBody>
      </p:sp>
      <p:sp>
        <p:nvSpPr>
          <p:cNvPr id="11" name="Text 9"/>
          <p:cNvSpPr txBox="1"/>
          <p:nvPr/>
        </p:nvSpPr>
        <p:spPr>
          <a:xfrm>
            <a:off x="6035040" y="2377440"/>
            <a:ext cx="2560320" cy="457200"/>
          </a:xfrm>
          <a:prstGeom prst="rect">
            <a:avLst/>
          </a:prstGeom>
          <a:noFill/>
          <a:ln/>
        </p:spPr>
        <p:txBody>
          <a:bodyPr wrap="square" lIns="0" tIns="0" rIns="0" bIns="0" rtlCol="0" anchor="ctr"/>
          <a:lstStyle/>
          <a:p>
            <a:pPr algn="ctr" indent="0" marL="0">
              <a:buNone/>
            </a:pPr>
            <a:r>
              <a:rPr lang="en-US" sz="1800" dirty="0">
                <a:solidFill>
                  <a:schemeClr val="tx1"/>
                </a:solidFill>
              </a:rPr>
              <a:t>state government</a:t>
            </a:r>
            <a:endParaRPr lang="en-US" sz="1800" dirty="0"/>
          </a:p>
        </p:txBody>
      </p:sp>
      <p:sp>
        <p:nvSpPr>
          <p:cNvPr id="12" name="Shape 10"/>
          <p:cNvSpPr/>
          <p:nvPr/>
        </p:nvSpPr>
        <p:spPr>
          <a:xfrm>
            <a:off x="548640" y="3520440"/>
            <a:ext cx="548640" cy="548640"/>
          </a:xfrm>
          <a:prstGeom prst="ellipse">
            <a:avLst/>
          </a:prstGeom>
          <a:solidFill>
            <a:schemeClr val="accent4"/>
          </a:solidFill>
          <a:ln/>
        </p:spPr>
      </p:sp>
      <p:pic>
        <p:nvPicPr>
          <p:cNvPr id="13" name="Image 0" descr="Table icon">    </p:cNvPr>
          <p:cNvPicPr>
            <a:picLocks noChangeAspect="1"/>
          </p:cNvPicPr>
          <p:nvPr/>
        </p:nvPicPr>
        <p:blipFill>
          <a:blip r:embed="rId1"/>
          <a:stretch>
            <a:fillRect/>
          </a:stretch>
        </p:blipFill>
        <p:spPr>
          <a:xfrm>
            <a:off x="685800" y="3657600"/>
            <a:ext cx="274320" cy="274320"/>
          </a:xfrm>
          <a:prstGeom prst="rect">
            <a:avLst/>
          </a:prstGeom>
        </p:spPr>
      </p:pic>
      <p:sp>
        <p:nvSpPr>
          <p:cNvPr id="14" name="Text 11"/>
          <p:cNvSpPr txBox="1"/>
          <p:nvPr/>
        </p:nvSpPr>
        <p:spPr>
          <a:xfrm>
            <a:off x="1280160" y="3474720"/>
            <a:ext cx="7315200" cy="640080"/>
          </a:xfrm>
          <a:prstGeom prst="rect">
            <a:avLst/>
          </a:prstGeom>
          <a:noFill/>
          <a:ln/>
        </p:spPr>
        <p:txBody>
          <a:bodyPr wrap="square" lIns="0" tIns="0" rIns="0" bIns="0" rtlCol="0" anchor="ctr"/>
          <a:lstStyle/>
          <a:p>
            <a:pPr indent="0" marL="0">
              <a:buNone/>
            </a:pPr>
            <a:r>
              <a:rPr lang="en-US" sz="1800" b="1" dirty="0">
                <a:solidFill>
                  <a:schemeClr val="tx1"/>
                </a:solidFill>
              </a:rPr>
              <a:t>Main columns: </a:t>
            </a:r>
            <a:pPr indent="0" marL="0">
              <a:buNone/>
            </a:pPr>
            <a:r>
              <a:rPr lang="en-US" sz="1800" dirty="0">
                <a:solidFill>
                  <a:schemeClr val="tx1"/>
                </a:solidFill>
              </a:rPr>
              <a:t>Agency, Gender, Ethnicity, Status, Hourly rate, Monthly, Annual</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Project Goal</a:t>
            </a:r>
            <a:endParaRPr lang="en-US" sz="3600" dirty="0"/>
          </a:p>
        </p:txBody>
      </p:sp>
      <p:sp>
        <p:nvSpPr>
          <p:cNvPr id="3" name="Row 1"/>
          <p:cNvSpPr/>
          <p:nvPr/>
        </p:nvSpPr>
        <p:spPr>
          <a:xfrm>
            <a:off x="548640" y="1371600"/>
            <a:ext cx="8046720" cy="822960"/>
          </a:xfrm>
          <a:prstGeom prst="roundRect">
            <a:avLst>
              <a:gd name="adj" fmla="val 13333"/>
            </a:avLst>
          </a:prstGeom>
          <a:solidFill>
            <a:schemeClr val="bg2"/>
          </a:solidFill>
          <a:ln/>
        </p:spPr>
      </p:sp>
      <p:sp>
        <p:nvSpPr>
          <p:cNvPr id="4" name="Shape 2"/>
          <p:cNvSpPr/>
          <p:nvPr/>
        </p:nvSpPr>
        <p:spPr>
          <a:xfrm>
            <a:off x="749808" y="1490472"/>
            <a:ext cx="585216" cy="585216"/>
          </a:xfrm>
          <a:prstGeom prst="ellipse">
            <a:avLst/>
          </a:prstGeom>
          <a:solidFill>
            <a:schemeClr val="accent1"/>
          </a:solidFill>
          <a:ln/>
        </p:spPr>
      </p:sp>
      <p:pic>
        <p:nvPicPr>
          <p:cNvPr id="5" name="Image 0" descr="FaSearch">    </p:cNvPr>
          <p:cNvPicPr>
            <a:picLocks noChangeAspect="1"/>
          </p:cNvPicPr>
          <p:nvPr/>
        </p:nvPicPr>
        <p:blipFill>
          <a:blip r:embed="rId1"/>
          <a:stretch>
            <a:fillRect/>
          </a:stretch>
        </p:blipFill>
        <p:spPr>
          <a:xfrm>
            <a:off x="907816" y="1648480"/>
            <a:ext cx="269199" cy="269199"/>
          </a:xfrm>
          <a:prstGeom prst="rect">
            <a:avLst/>
          </a:prstGeom>
        </p:spPr>
      </p:pic>
      <p:sp>
        <p:nvSpPr>
          <p:cNvPr id="6" name="Text 3"/>
          <p:cNvSpPr txBox="1"/>
          <p:nvPr/>
        </p:nvSpPr>
        <p:spPr>
          <a:xfrm>
            <a:off x="1554480" y="1371600"/>
            <a:ext cx="6858000" cy="822960"/>
          </a:xfrm>
          <a:prstGeom prst="rect">
            <a:avLst/>
          </a:prstGeom>
          <a:noFill/>
          <a:ln/>
        </p:spPr>
        <p:txBody>
          <a:bodyPr wrap="square" lIns="0" tIns="0" rIns="0" bIns="0" rtlCol="0" anchor="ctr"/>
          <a:lstStyle/>
          <a:p>
            <a:pPr indent="0" marL="0">
              <a:buNone/>
            </a:pPr>
            <a:r>
              <a:rPr lang="en-US" sz="2200" b="1" dirty="0">
                <a:solidFill>
                  <a:schemeClr val="accent1"/>
                </a:solidFill>
              </a:rPr>
              <a:t>Understand </a:t>
            </a:r>
            <a:pPr indent="0" marL="0">
              <a:buNone/>
            </a:pPr>
            <a:r>
              <a:rPr lang="en-US" sz="2200" dirty="0">
                <a:solidFill>
                  <a:schemeClr val="tx1"/>
                </a:solidFill>
              </a:rPr>
              <a:t>who earns how much</a:t>
            </a:r>
            <a:endParaRPr lang="en-US" sz="2200" dirty="0"/>
          </a:p>
        </p:txBody>
      </p:sp>
      <p:sp>
        <p:nvSpPr>
          <p:cNvPr id="7" name="Row 2"/>
          <p:cNvSpPr/>
          <p:nvPr/>
        </p:nvSpPr>
        <p:spPr>
          <a:xfrm>
            <a:off x="548640" y="2377440"/>
            <a:ext cx="8046720" cy="822960"/>
          </a:xfrm>
          <a:prstGeom prst="roundRect">
            <a:avLst>
              <a:gd name="adj" fmla="val 13333"/>
            </a:avLst>
          </a:prstGeom>
          <a:solidFill>
            <a:schemeClr val="bg2"/>
          </a:solidFill>
          <a:ln/>
        </p:spPr>
      </p:sp>
      <p:sp>
        <p:nvSpPr>
          <p:cNvPr id="8" name="Shape 5"/>
          <p:cNvSpPr/>
          <p:nvPr/>
        </p:nvSpPr>
        <p:spPr>
          <a:xfrm>
            <a:off x="749808" y="2496312"/>
            <a:ext cx="585216" cy="585216"/>
          </a:xfrm>
          <a:prstGeom prst="ellipse">
            <a:avLst/>
          </a:prstGeom>
          <a:solidFill>
            <a:schemeClr val="accent1"/>
          </a:solidFill>
          <a:ln/>
        </p:spPr>
      </p:sp>
      <p:pic>
        <p:nvPicPr>
          <p:cNvPr id="9" name="Image 1" descr="FaBrain">    </p:cNvPr>
          <p:cNvPicPr>
            <a:picLocks noChangeAspect="1"/>
          </p:cNvPicPr>
          <p:nvPr/>
        </p:nvPicPr>
        <p:blipFill>
          <a:blip r:embed="rId2"/>
          <a:stretch>
            <a:fillRect/>
          </a:stretch>
        </p:blipFill>
        <p:spPr>
          <a:xfrm>
            <a:off x="907816" y="2654320"/>
            <a:ext cx="269199" cy="269199"/>
          </a:xfrm>
          <a:prstGeom prst="rect">
            <a:avLst/>
          </a:prstGeom>
        </p:spPr>
      </p:pic>
      <p:sp>
        <p:nvSpPr>
          <p:cNvPr id="10" name="Text 6"/>
          <p:cNvSpPr txBox="1"/>
          <p:nvPr/>
        </p:nvSpPr>
        <p:spPr>
          <a:xfrm>
            <a:off x="1554480" y="2377440"/>
            <a:ext cx="6858000" cy="822960"/>
          </a:xfrm>
          <a:prstGeom prst="rect">
            <a:avLst/>
          </a:prstGeom>
          <a:noFill/>
          <a:ln/>
        </p:spPr>
        <p:txBody>
          <a:bodyPr wrap="square" lIns="0" tIns="0" rIns="0" bIns="0" rtlCol="0" anchor="ctr"/>
          <a:lstStyle/>
          <a:p>
            <a:pPr indent="0" marL="0">
              <a:buNone/>
            </a:pPr>
            <a:r>
              <a:rPr lang="en-US" sz="2200" b="1" dirty="0">
                <a:solidFill>
                  <a:schemeClr val="accent1"/>
                </a:solidFill>
              </a:rPr>
              <a:t>Build </a:t>
            </a:r>
            <a:pPr indent="0" marL="0">
              <a:buNone/>
            </a:pPr>
            <a:r>
              <a:rPr lang="en-US" sz="2200" dirty="0">
                <a:solidFill>
                  <a:schemeClr val="tx1"/>
                </a:solidFill>
              </a:rPr>
              <a:t>a model to predict annual salary</a:t>
            </a:r>
            <a:endParaRPr lang="en-US" sz="2200" dirty="0"/>
          </a:p>
        </p:txBody>
      </p:sp>
      <p:sp>
        <p:nvSpPr>
          <p:cNvPr id="11" name="Row 3"/>
          <p:cNvSpPr/>
          <p:nvPr/>
        </p:nvSpPr>
        <p:spPr>
          <a:xfrm>
            <a:off x="548640" y="3383280"/>
            <a:ext cx="8046720" cy="822960"/>
          </a:xfrm>
          <a:prstGeom prst="roundRect">
            <a:avLst>
              <a:gd name="adj" fmla="val 13333"/>
            </a:avLst>
          </a:prstGeom>
          <a:solidFill>
            <a:schemeClr val="bg2"/>
          </a:solidFill>
          <a:ln/>
        </p:spPr>
      </p:sp>
      <p:sp>
        <p:nvSpPr>
          <p:cNvPr id="12" name="Shape 8"/>
          <p:cNvSpPr/>
          <p:nvPr/>
        </p:nvSpPr>
        <p:spPr>
          <a:xfrm>
            <a:off x="749808" y="3502152"/>
            <a:ext cx="585216" cy="585216"/>
          </a:xfrm>
          <a:prstGeom prst="ellipse">
            <a:avLst/>
          </a:prstGeom>
          <a:solidFill>
            <a:schemeClr val="accent1"/>
          </a:solidFill>
          <a:ln/>
        </p:spPr>
      </p:sp>
      <p:pic>
        <p:nvPicPr>
          <p:cNvPr id="13" name="Image 2" descr="FaLightbulb">    </p:cNvPr>
          <p:cNvPicPr>
            <a:picLocks noChangeAspect="1"/>
          </p:cNvPicPr>
          <p:nvPr/>
        </p:nvPicPr>
        <p:blipFill>
          <a:blip r:embed="rId3"/>
          <a:stretch>
            <a:fillRect/>
          </a:stretch>
        </p:blipFill>
        <p:spPr>
          <a:xfrm>
            <a:off x="907816" y="3660160"/>
            <a:ext cx="269199" cy="269199"/>
          </a:xfrm>
          <a:prstGeom prst="rect">
            <a:avLst/>
          </a:prstGeom>
        </p:spPr>
      </p:pic>
      <p:sp>
        <p:nvSpPr>
          <p:cNvPr id="14" name="Text 9"/>
          <p:cNvSpPr txBox="1"/>
          <p:nvPr/>
        </p:nvSpPr>
        <p:spPr>
          <a:xfrm>
            <a:off x="1554480" y="3383280"/>
            <a:ext cx="6858000" cy="822960"/>
          </a:xfrm>
          <a:prstGeom prst="rect">
            <a:avLst/>
          </a:prstGeom>
          <a:noFill/>
          <a:ln/>
        </p:spPr>
        <p:txBody>
          <a:bodyPr wrap="square" lIns="0" tIns="0" rIns="0" bIns="0" rtlCol="0" anchor="ctr"/>
          <a:lstStyle/>
          <a:p>
            <a:pPr indent="0" marL="0">
              <a:buNone/>
            </a:pPr>
            <a:r>
              <a:rPr lang="en-US" sz="2200" b="1" dirty="0">
                <a:solidFill>
                  <a:schemeClr val="accent1"/>
                </a:solidFill>
              </a:rPr>
              <a:t>Find </a:t>
            </a:r>
            <a:pPr indent="0" marL="0">
              <a:buNone/>
            </a:pPr>
            <a:r>
              <a:rPr lang="en-US" sz="2200" dirty="0">
                <a:solidFill>
                  <a:schemeClr val="tx1"/>
                </a:solidFill>
              </a:rPr>
              <a:t>useful insights from the data</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Steps I Followed</a:t>
            </a:r>
            <a:endParaRPr lang="en-US" sz="3600" dirty="0"/>
          </a:p>
        </p:txBody>
      </p:sp>
      <p:sp>
        <p:nvSpPr>
          <p:cNvPr id="3" name="Steps panel"/>
          <p:cNvSpPr/>
          <p:nvPr/>
        </p:nvSpPr>
        <p:spPr>
          <a:xfrm>
            <a:off x="548640" y="1371600"/>
            <a:ext cx="8046720" cy="2651760"/>
          </a:xfrm>
          <a:prstGeom prst="roundRect">
            <a:avLst>
              <a:gd name="adj" fmla="val 4138"/>
            </a:avLst>
          </a:prstGeom>
          <a:solidFill>
            <a:schemeClr val="bg2"/>
          </a:solidFill>
          <a:ln/>
        </p:spPr>
      </p:sp>
      <p:sp>
        <p:nvSpPr>
          <p:cNvPr id="4" name="Shape 2"/>
          <p:cNvSpPr/>
          <p:nvPr/>
        </p:nvSpPr>
        <p:spPr>
          <a:xfrm>
            <a:off x="1188720" y="2240280"/>
            <a:ext cx="6766560" cy="0"/>
          </a:xfrm>
          <a:prstGeom prst="line">
            <a:avLst/>
          </a:prstGeom>
          <a:noFill/>
          <a:ln w="25400">
            <a:solidFill>
              <a:schemeClr val="accent5"/>
            </a:solidFill>
            <a:prstDash val="solid"/>
          </a:ln>
        </p:spPr>
      </p:sp>
      <p:sp>
        <p:nvSpPr>
          <p:cNvPr id="5" name="Shape 3"/>
          <p:cNvSpPr/>
          <p:nvPr/>
        </p:nvSpPr>
        <p:spPr>
          <a:xfrm>
            <a:off x="777240" y="1828800"/>
            <a:ext cx="822960" cy="822960"/>
          </a:xfrm>
          <a:prstGeom prst="ellipse">
            <a:avLst/>
          </a:prstGeom>
          <a:solidFill>
            <a:schemeClr val="accent1"/>
          </a:solidFill>
          <a:ln/>
        </p:spPr>
      </p:sp>
      <p:pic>
        <p:nvPicPr>
          <p:cNvPr id="6" name="Image 0" descr="Load data">    </p:cNvPr>
          <p:cNvPicPr>
            <a:picLocks noChangeAspect="1"/>
          </p:cNvPicPr>
          <p:nvPr/>
        </p:nvPicPr>
        <p:blipFill>
          <a:blip r:embed="rId1"/>
          <a:stretch>
            <a:fillRect/>
          </a:stretch>
        </p:blipFill>
        <p:spPr>
          <a:xfrm>
            <a:off x="1005840" y="2057400"/>
            <a:ext cx="365760" cy="365760"/>
          </a:xfrm>
          <a:prstGeom prst="rect">
            <a:avLst/>
          </a:prstGeom>
        </p:spPr>
      </p:pic>
      <p:sp>
        <p:nvSpPr>
          <p:cNvPr id="7" name="Text 4"/>
          <p:cNvSpPr txBox="1"/>
          <p:nvPr/>
        </p:nvSpPr>
        <p:spPr>
          <a:xfrm>
            <a:off x="457200" y="2880360"/>
            <a:ext cx="1463040" cy="457200"/>
          </a:xfrm>
          <a:prstGeom prst="rect">
            <a:avLst/>
          </a:prstGeom>
          <a:noFill/>
          <a:ln/>
        </p:spPr>
        <p:txBody>
          <a:bodyPr wrap="square" lIns="0" tIns="0" rIns="0" bIns="0" rtlCol="0" anchor="ctr"/>
          <a:lstStyle/>
          <a:p>
            <a:pPr algn="ctr" indent="0" marL="0">
              <a:buNone/>
            </a:pPr>
            <a:r>
              <a:rPr lang="en-US" sz="1800" b="1" dirty="0">
                <a:solidFill>
                  <a:schemeClr val="tx1"/>
                </a:solidFill>
              </a:rPr>
              <a:t>Load data</a:t>
            </a:r>
            <a:endParaRPr lang="en-US" sz="1800" dirty="0"/>
          </a:p>
        </p:txBody>
      </p:sp>
      <p:sp>
        <p:nvSpPr>
          <p:cNvPr id="8" name="Shape 5"/>
          <p:cNvSpPr/>
          <p:nvPr/>
        </p:nvSpPr>
        <p:spPr>
          <a:xfrm>
            <a:off x="2468880" y="1828800"/>
            <a:ext cx="822960" cy="822960"/>
          </a:xfrm>
          <a:prstGeom prst="ellipse">
            <a:avLst/>
          </a:prstGeom>
          <a:solidFill>
            <a:schemeClr val="accent1"/>
          </a:solidFill>
          <a:ln/>
        </p:spPr>
      </p:sp>
      <p:pic>
        <p:nvPicPr>
          <p:cNvPr id="9" name="Image 1" descr="Clean data">    </p:cNvPr>
          <p:cNvPicPr>
            <a:picLocks noChangeAspect="1"/>
          </p:cNvPicPr>
          <p:nvPr/>
        </p:nvPicPr>
        <p:blipFill>
          <a:blip r:embed="rId2"/>
          <a:stretch>
            <a:fillRect/>
          </a:stretch>
        </p:blipFill>
        <p:spPr>
          <a:xfrm>
            <a:off x="2697480" y="2057400"/>
            <a:ext cx="365760" cy="365760"/>
          </a:xfrm>
          <a:prstGeom prst="rect">
            <a:avLst/>
          </a:prstGeom>
        </p:spPr>
      </p:pic>
      <p:sp>
        <p:nvSpPr>
          <p:cNvPr id="10" name="Text 6"/>
          <p:cNvSpPr txBox="1"/>
          <p:nvPr/>
        </p:nvSpPr>
        <p:spPr>
          <a:xfrm>
            <a:off x="2148840" y="2880360"/>
            <a:ext cx="1463040" cy="457200"/>
          </a:xfrm>
          <a:prstGeom prst="rect">
            <a:avLst/>
          </a:prstGeom>
          <a:noFill/>
          <a:ln/>
        </p:spPr>
        <p:txBody>
          <a:bodyPr wrap="square" lIns="0" tIns="0" rIns="0" bIns="0" rtlCol="0" anchor="ctr"/>
          <a:lstStyle/>
          <a:p>
            <a:pPr algn="ctr" indent="0" marL="0">
              <a:buNone/>
            </a:pPr>
            <a:r>
              <a:rPr lang="en-US" sz="1800" b="1" dirty="0">
                <a:solidFill>
                  <a:schemeClr val="tx1"/>
                </a:solidFill>
              </a:rPr>
              <a:t>Clean data</a:t>
            </a:r>
            <a:endParaRPr lang="en-US" sz="1800" dirty="0"/>
          </a:p>
        </p:txBody>
      </p:sp>
      <p:sp>
        <p:nvSpPr>
          <p:cNvPr id="11" name="Shape 7"/>
          <p:cNvSpPr/>
          <p:nvPr/>
        </p:nvSpPr>
        <p:spPr>
          <a:xfrm>
            <a:off x="4160520" y="1828800"/>
            <a:ext cx="822960" cy="822960"/>
          </a:xfrm>
          <a:prstGeom prst="ellipse">
            <a:avLst/>
          </a:prstGeom>
          <a:solidFill>
            <a:schemeClr val="accent1"/>
          </a:solidFill>
          <a:ln/>
        </p:spPr>
      </p:sp>
      <p:pic>
        <p:nvPicPr>
          <p:cNvPr id="12" name="Image 2" descr="Explore">    </p:cNvPr>
          <p:cNvPicPr>
            <a:picLocks noChangeAspect="1"/>
          </p:cNvPicPr>
          <p:nvPr/>
        </p:nvPicPr>
        <p:blipFill>
          <a:blip r:embed="rId3"/>
          <a:stretch>
            <a:fillRect/>
          </a:stretch>
        </p:blipFill>
        <p:spPr>
          <a:xfrm>
            <a:off x="4389120" y="2057400"/>
            <a:ext cx="365760" cy="365760"/>
          </a:xfrm>
          <a:prstGeom prst="rect">
            <a:avLst/>
          </a:prstGeom>
        </p:spPr>
      </p:pic>
      <p:sp>
        <p:nvSpPr>
          <p:cNvPr id="13" name="Text 8"/>
          <p:cNvSpPr txBox="1"/>
          <p:nvPr/>
        </p:nvSpPr>
        <p:spPr>
          <a:xfrm>
            <a:off x="3840480" y="2880360"/>
            <a:ext cx="1463040" cy="457200"/>
          </a:xfrm>
          <a:prstGeom prst="rect">
            <a:avLst/>
          </a:prstGeom>
          <a:noFill/>
          <a:ln/>
        </p:spPr>
        <p:txBody>
          <a:bodyPr wrap="square" lIns="0" tIns="0" rIns="0" bIns="0" rtlCol="0" anchor="ctr"/>
          <a:lstStyle/>
          <a:p>
            <a:pPr algn="ctr" indent="0" marL="0">
              <a:buNone/>
            </a:pPr>
            <a:r>
              <a:rPr lang="en-US" sz="1800" b="1" dirty="0">
                <a:solidFill>
                  <a:schemeClr val="tx1"/>
                </a:solidFill>
              </a:rPr>
              <a:t>Explore</a:t>
            </a:r>
            <a:endParaRPr lang="en-US" sz="1800" dirty="0"/>
          </a:p>
        </p:txBody>
      </p:sp>
      <p:sp>
        <p:nvSpPr>
          <p:cNvPr id="14" name="Shape 9"/>
          <p:cNvSpPr/>
          <p:nvPr/>
        </p:nvSpPr>
        <p:spPr>
          <a:xfrm>
            <a:off x="5852160" y="1828800"/>
            <a:ext cx="822960" cy="822960"/>
          </a:xfrm>
          <a:prstGeom prst="ellipse">
            <a:avLst/>
          </a:prstGeom>
          <a:solidFill>
            <a:schemeClr val="accent1"/>
          </a:solidFill>
          <a:ln/>
        </p:spPr>
      </p:sp>
      <p:pic>
        <p:nvPicPr>
          <p:cNvPr id="15" name="Image 3" descr="Build model">    </p:cNvPr>
          <p:cNvPicPr>
            <a:picLocks noChangeAspect="1"/>
          </p:cNvPicPr>
          <p:nvPr/>
        </p:nvPicPr>
        <p:blipFill>
          <a:blip r:embed="rId4"/>
          <a:stretch>
            <a:fillRect/>
          </a:stretch>
        </p:blipFill>
        <p:spPr>
          <a:xfrm>
            <a:off x="6080760" y="2057400"/>
            <a:ext cx="365760" cy="365760"/>
          </a:xfrm>
          <a:prstGeom prst="rect">
            <a:avLst/>
          </a:prstGeom>
        </p:spPr>
      </p:pic>
      <p:sp>
        <p:nvSpPr>
          <p:cNvPr id="16" name="Text 10"/>
          <p:cNvSpPr txBox="1"/>
          <p:nvPr/>
        </p:nvSpPr>
        <p:spPr>
          <a:xfrm>
            <a:off x="5532120" y="2880360"/>
            <a:ext cx="1463040" cy="457200"/>
          </a:xfrm>
          <a:prstGeom prst="rect">
            <a:avLst/>
          </a:prstGeom>
          <a:noFill/>
          <a:ln/>
        </p:spPr>
        <p:txBody>
          <a:bodyPr wrap="square" lIns="0" tIns="0" rIns="0" bIns="0" rtlCol="0" anchor="ctr"/>
          <a:lstStyle/>
          <a:p>
            <a:pPr algn="ctr" indent="0" marL="0">
              <a:buNone/>
            </a:pPr>
            <a:r>
              <a:rPr lang="en-US" sz="1800" b="1" dirty="0">
                <a:solidFill>
                  <a:schemeClr val="tx1"/>
                </a:solidFill>
              </a:rPr>
              <a:t>Build model</a:t>
            </a:r>
            <a:endParaRPr lang="en-US" sz="1800" dirty="0"/>
          </a:p>
        </p:txBody>
      </p:sp>
      <p:sp>
        <p:nvSpPr>
          <p:cNvPr id="17" name="Shape 11"/>
          <p:cNvSpPr/>
          <p:nvPr/>
        </p:nvSpPr>
        <p:spPr>
          <a:xfrm>
            <a:off x="7543800" y="1828800"/>
            <a:ext cx="822960" cy="822960"/>
          </a:xfrm>
          <a:prstGeom prst="ellipse">
            <a:avLst/>
          </a:prstGeom>
          <a:solidFill>
            <a:schemeClr val="accent1"/>
          </a:solidFill>
          <a:ln/>
        </p:spPr>
      </p:sp>
      <p:pic>
        <p:nvPicPr>
          <p:cNvPr id="18" name="Image 4" descr="Insights">    </p:cNvPr>
          <p:cNvPicPr>
            <a:picLocks noChangeAspect="1"/>
          </p:cNvPicPr>
          <p:nvPr/>
        </p:nvPicPr>
        <p:blipFill>
          <a:blip r:embed="rId5"/>
          <a:stretch>
            <a:fillRect/>
          </a:stretch>
        </p:blipFill>
        <p:spPr>
          <a:xfrm>
            <a:off x="7772400" y="2057400"/>
            <a:ext cx="365760" cy="365760"/>
          </a:xfrm>
          <a:prstGeom prst="rect">
            <a:avLst/>
          </a:prstGeom>
        </p:spPr>
      </p:pic>
      <p:sp>
        <p:nvSpPr>
          <p:cNvPr id="19" name="Text 12"/>
          <p:cNvSpPr txBox="1"/>
          <p:nvPr/>
        </p:nvSpPr>
        <p:spPr>
          <a:xfrm>
            <a:off x="7223760" y="2880360"/>
            <a:ext cx="1463040" cy="457200"/>
          </a:xfrm>
          <a:prstGeom prst="rect">
            <a:avLst/>
          </a:prstGeom>
          <a:noFill/>
          <a:ln/>
        </p:spPr>
        <p:txBody>
          <a:bodyPr wrap="square" lIns="0" tIns="0" rIns="0" bIns="0" rtlCol="0" anchor="ctr"/>
          <a:lstStyle/>
          <a:p>
            <a:pPr algn="ctr" indent="0" marL="0">
              <a:buNone/>
            </a:pPr>
            <a:r>
              <a:rPr lang="en-US" sz="1800" b="1" dirty="0">
                <a:solidFill>
                  <a:schemeClr val="tx1"/>
                </a:solidFill>
              </a:rPr>
              <a:t>Insights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Data Cleaning</a:t>
            </a:r>
            <a:endParaRPr lang="en-US" sz="3600" dirty="0"/>
          </a:p>
        </p:txBody>
      </p:sp>
      <p:sp>
        <p:nvSpPr>
          <p:cNvPr id="3" name="Clean 1"/>
          <p:cNvSpPr/>
          <p:nvPr/>
        </p:nvSpPr>
        <p:spPr>
          <a:xfrm>
            <a:off x="548640" y="1371600"/>
            <a:ext cx="3840480" cy="914400"/>
          </a:xfrm>
          <a:prstGeom prst="roundRect">
            <a:avLst>
              <a:gd name="adj" fmla="val 12000"/>
            </a:avLst>
          </a:prstGeom>
          <a:solidFill>
            <a:schemeClr val="bg2"/>
          </a:solidFill>
          <a:ln/>
        </p:spPr>
      </p:sp>
      <p:sp>
        <p:nvSpPr>
          <p:cNvPr id="4" name="Shape 2"/>
          <p:cNvSpPr/>
          <p:nvPr/>
        </p:nvSpPr>
        <p:spPr>
          <a:xfrm>
            <a:off x="731520" y="1554480"/>
            <a:ext cx="548640" cy="548640"/>
          </a:xfrm>
          <a:prstGeom prst="ellipse">
            <a:avLst/>
          </a:prstGeom>
          <a:solidFill>
            <a:schemeClr val="accent4"/>
          </a:solidFill>
          <a:ln/>
        </p:spPr>
      </p:sp>
      <p:pic>
        <p:nvPicPr>
          <p:cNvPr id="5" name="Image 0" descr="Checked missing values">    </p:cNvPr>
          <p:cNvPicPr>
            <a:picLocks noChangeAspect="1"/>
          </p:cNvPicPr>
          <p:nvPr/>
        </p:nvPicPr>
        <p:blipFill>
          <a:blip r:embed="rId1"/>
          <a:stretch>
            <a:fillRect/>
          </a:stretch>
        </p:blipFill>
        <p:spPr>
          <a:xfrm>
            <a:off x="886968" y="1709928"/>
            <a:ext cx="237744" cy="237744"/>
          </a:xfrm>
          <a:prstGeom prst="rect">
            <a:avLst/>
          </a:prstGeom>
        </p:spPr>
      </p:pic>
      <p:sp>
        <p:nvSpPr>
          <p:cNvPr id="6" name="Text 3"/>
          <p:cNvSpPr txBox="1"/>
          <p:nvPr/>
        </p:nvSpPr>
        <p:spPr>
          <a:xfrm>
            <a:off x="1463040" y="1371600"/>
            <a:ext cx="2788920" cy="914400"/>
          </a:xfrm>
          <a:prstGeom prst="rect">
            <a:avLst/>
          </a:prstGeom>
          <a:noFill/>
          <a:ln/>
        </p:spPr>
        <p:txBody>
          <a:bodyPr wrap="square" lIns="0" tIns="0" rIns="0" bIns="0" rtlCol="0" anchor="ctr"/>
          <a:lstStyle/>
          <a:p>
            <a:pPr indent="0" marL="0">
              <a:buNone/>
            </a:pPr>
            <a:r>
              <a:rPr lang="en-US" sz="1800" dirty="0">
                <a:solidFill>
                  <a:schemeClr val="tx1"/>
                </a:solidFill>
              </a:rPr>
              <a:t>Checked missing values</a:t>
            </a:r>
            <a:endParaRPr lang="en-US" sz="1800" dirty="0"/>
          </a:p>
        </p:txBody>
      </p:sp>
      <p:sp>
        <p:nvSpPr>
          <p:cNvPr id="7" name="Clean 2"/>
          <p:cNvSpPr/>
          <p:nvPr/>
        </p:nvSpPr>
        <p:spPr>
          <a:xfrm>
            <a:off x="4754880" y="1371600"/>
            <a:ext cx="3840480" cy="914400"/>
          </a:xfrm>
          <a:prstGeom prst="roundRect">
            <a:avLst>
              <a:gd name="adj" fmla="val 12000"/>
            </a:avLst>
          </a:prstGeom>
          <a:solidFill>
            <a:schemeClr val="bg2"/>
          </a:solidFill>
          <a:ln/>
        </p:spPr>
      </p:sp>
      <p:sp>
        <p:nvSpPr>
          <p:cNvPr id="8" name="Shape 5"/>
          <p:cNvSpPr/>
          <p:nvPr/>
        </p:nvSpPr>
        <p:spPr>
          <a:xfrm>
            <a:off x="4937760" y="1554480"/>
            <a:ext cx="548640" cy="548640"/>
          </a:xfrm>
          <a:prstGeom prst="ellipse">
            <a:avLst/>
          </a:prstGeom>
          <a:solidFill>
            <a:schemeClr val="accent4"/>
          </a:solidFill>
          <a:ln/>
        </p:spPr>
      </p:sp>
      <p:pic>
        <p:nvPicPr>
          <p:cNvPr id="9" name="Image 1" descr="Checked duplicate rows">    </p:cNvPr>
          <p:cNvPicPr>
            <a:picLocks noChangeAspect="1"/>
          </p:cNvPicPr>
          <p:nvPr/>
        </p:nvPicPr>
        <p:blipFill>
          <a:blip r:embed="rId2"/>
          <a:stretch>
            <a:fillRect/>
          </a:stretch>
        </p:blipFill>
        <p:spPr>
          <a:xfrm>
            <a:off x="5093208" y="1709928"/>
            <a:ext cx="237744" cy="237744"/>
          </a:xfrm>
          <a:prstGeom prst="rect">
            <a:avLst/>
          </a:prstGeom>
        </p:spPr>
      </p:pic>
      <p:sp>
        <p:nvSpPr>
          <p:cNvPr id="10" name="Text 6"/>
          <p:cNvSpPr txBox="1"/>
          <p:nvPr/>
        </p:nvSpPr>
        <p:spPr>
          <a:xfrm>
            <a:off x="5669280" y="1371600"/>
            <a:ext cx="2788920" cy="914400"/>
          </a:xfrm>
          <a:prstGeom prst="rect">
            <a:avLst/>
          </a:prstGeom>
          <a:noFill/>
          <a:ln/>
        </p:spPr>
        <p:txBody>
          <a:bodyPr wrap="square" lIns="0" tIns="0" rIns="0" bIns="0" rtlCol="0" anchor="ctr"/>
          <a:lstStyle/>
          <a:p>
            <a:pPr indent="0" marL="0">
              <a:buNone/>
            </a:pPr>
            <a:r>
              <a:rPr lang="en-US" sz="1800" dirty="0">
                <a:solidFill>
                  <a:schemeClr val="tx1"/>
                </a:solidFill>
              </a:rPr>
              <a:t>Checked duplicate rows</a:t>
            </a:r>
            <a:endParaRPr lang="en-US" sz="1800" dirty="0"/>
          </a:p>
        </p:txBody>
      </p:sp>
      <p:sp>
        <p:nvSpPr>
          <p:cNvPr id="11" name="Clean 3"/>
          <p:cNvSpPr/>
          <p:nvPr/>
        </p:nvSpPr>
        <p:spPr>
          <a:xfrm>
            <a:off x="548640" y="2468880"/>
            <a:ext cx="3840480" cy="914400"/>
          </a:xfrm>
          <a:prstGeom prst="roundRect">
            <a:avLst>
              <a:gd name="adj" fmla="val 12000"/>
            </a:avLst>
          </a:prstGeom>
          <a:solidFill>
            <a:schemeClr val="bg2"/>
          </a:solidFill>
          <a:ln/>
        </p:spPr>
      </p:sp>
      <p:sp>
        <p:nvSpPr>
          <p:cNvPr id="12" name="Shape 8"/>
          <p:cNvSpPr/>
          <p:nvPr/>
        </p:nvSpPr>
        <p:spPr>
          <a:xfrm>
            <a:off x="731520" y="2651760"/>
            <a:ext cx="548640" cy="548640"/>
          </a:xfrm>
          <a:prstGeom prst="ellipse">
            <a:avLst/>
          </a:prstGeom>
          <a:solidFill>
            <a:schemeClr val="accent4"/>
          </a:solidFill>
          <a:ln/>
        </p:spPr>
      </p:sp>
      <p:pic>
        <p:nvPicPr>
          <p:cNvPr id="13" name="Image 2" descr="Removed extra columns">    </p:cNvPr>
          <p:cNvPicPr>
            <a:picLocks noChangeAspect="1"/>
          </p:cNvPicPr>
          <p:nvPr/>
        </p:nvPicPr>
        <p:blipFill>
          <a:blip r:embed="rId3"/>
          <a:stretch>
            <a:fillRect/>
          </a:stretch>
        </p:blipFill>
        <p:spPr>
          <a:xfrm>
            <a:off x="886968" y="2807208"/>
            <a:ext cx="237744" cy="237744"/>
          </a:xfrm>
          <a:prstGeom prst="rect">
            <a:avLst/>
          </a:prstGeom>
        </p:spPr>
      </p:pic>
      <p:sp>
        <p:nvSpPr>
          <p:cNvPr id="14" name="Text 9"/>
          <p:cNvSpPr txBox="1"/>
          <p:nvPr/>
        </p:nvSpPr>
        <p:spPr>
          <a:xfrm>
            <a:off x="1463040" y="2468880"/>
            <a:ext cx="2788920" cy="914400"/>
          </a:xfrm>
          <a:prstGeom prst="rect">
            <a:avLst/>
          </a:prstGeom>
          <a:noFill/>
          <a:ln/>
        </p:spPr>
        <p:txBody>
          <a:bodyPr wrap="square" lIns="0" tIns="0" rIns="0" bIns="0" rtlCol="0" anchor="ctr"/>
          <a:lstStyle/>
          <a:p>
            <a:pPr indent="0" marL="0">
              <a:buNone/>
            </a:pPr>
            <a:r>
              <a:rPr lang="en-US" sz="1800" dirty="0">
                <a:solidFill>
                  <a:schemeClr val="tx1"/>
                </a:solidFill>
              </a:rPr>
              <a:t>Removed extra columns</a:t>
            </a:r>
            <a:endParaRPr lang="en-US" sz="1800" dirty="0"/>
          </a:p>
        </p:txBody>
      </p:sp>
      <p:sp>
        <p:nvSpPr>
          <p:cNvPr id="15" name="Clean 4"/>
          <p:cNvSpPr/>
          <p:nvPr/>
        </p:nvSpPr>
        <p:spPr>
          <a:xfrm>
            <a:off x="4754880" y="2468880"/>
            <a:ext cx="3840480" cy="914400"/>
          </a:xfrm>
          <a:prstGeom prst="roundRect">
            <a:avLst>
              <a:gd name="adj" fmla="val 12000"/>
            </a:avLst>
          </a:prstGeom>
          <a:solidFill>
            <a:schemeClr val="bg2"/>
          </a:solidFill>
          <a:ln/>
        </p:spPr>
      </p:sp>
      <p:sp>
        <p:nvSpPr>
          <p:cNvPr id="16" name="Shape 11"/>
          <p:cNvSpPr/>
          <p:nvPr/>
        </p:nvSpPr>
        <p:spPr>
          <a:xfrm>
            <a:off x="4937760" y="2651760"/>
            <a:ext cx="548640" cy="548640"/>
          </a:xfrm>
          <a:prstGeom prst="ellipse">
            <a:avLst/>
          </a:prstGeom>
          <a:solidFill>
            <a:schemeClr val="accent4"/>
          </a:solidFill>
          <a:ln/>
        </p:spPr>
      </p:sp>
      <p:pic>
        <p:nvPicPr>
          <p:cNvPr id="17" name="Image 3" descr="Removed names &amp; job codes">    </p:cNvPr>
          <p:cNvPicPr>
            <a:picLocks noChangeAspect="1"/>
          </p:cNvPicPr>
          <p:nvPr/>
        </p:nvPicPr>
        <p:blipFill>
          <a:blip r:embed="rId4"/>
          <a:stretch>
            <a:fillRect/>
          </a:stretch>
        </p:blipFill>
        <p:spPr>
          <a:xfrm>
            <a:off x="5093208" y="2807208"/>
            <a:ext cx="237744" cy="237744"/>
          </a:xfrm>
          <a:prstGeom prst="rect">
            <a:avLst/>
          </a:prstGeom>
        </p:spPr>
      </p:pic>
      <p:sp>
        <p:nvSpPr>
          <p:cNvPr id="18" name="Text 12"/>
          <p:cNvSpPr txBox="1"/>
          <p:nvPr/>
        </p:nvSpPr>
        <p:spPr>
          <a:xfrm>
            <a:off x="5669280" y="2468880"/>
            <a:ext cx="2788920" cy="914400"/>
          </a:xfrm>
          <a:prstGeom prst="rect">
            <a:avLst/>
          </a:prstGeom>
          <a:noFill/>
          <a:ln/>
        </p:spPr>
        <p:txBody>
          <a:bodyPr wrap="square" lIns="0" tIns="0" rIns="0" bIns="0" rtlCol="0" anchor="ctr"/>
          <a:lstStyle/>
          <a:p>
            <a:pPr indent="0" marL="0">
              <a:buNone/>
            </a:pPr>
            <a:r>
              <a:rPr lang="en-US" sz="1800" dirty="0">
                <a:solidFill>
                  <a:schemeClr val="tx1"/>
                </a:solidFill>
              </a:rPr>
              <a:t>Removed names &amp; job codes</a:t>
            </a:r>
            <a:endParaRPr lang="en-US" sz="1800" dirty="0"/>
          </a:p>
        </p:txBody>
      </p:sp>
      <p:sp>
        <p:nvSpPr>
          <p:cNvPr id="19" name="Clean 5"/>
          <p:cNvSpPr/>
          <p:nvPr/>
        </p:nvSpPr>
        <p:spPr>
          <a:xfrm>
            <a:off x="548640" y="3566160"/>
            <a:ext cx="3840480" cy="914400"/>
          </a:xfrm>
          <a:prstGeom prst="roundRect">
            <a:avLst>
              <a:gd name="adj" fmla="val 12000"/>
            </a:avLst>
          </a:prstGeom>
          <a:solidFill>
            <a:schemeClr val="bg2"/>
          </a:solidFill>
          <a:ln/>
        </p:spPr>
      </p:sp>
      <p:sp>
        <p:nvSpPr>
          <p:cNvPr id="20" name="Shape 14"/>
          <p:cNvSpPr/>
          <p:nvPr/>
        </p:nvSpPr>
        <p:spPr>
          <a:xfrm>
            <a:off x="731520" y="3749040"/>
            <a:ext cx="548640" cy="548640"/>
          </a:xfrm>
          <a:prstGeom prst="ellipse">
            <a:avLst/>
          </a:prstGeom>
          <a:solidFill>
            <a:schemeClr val="accent4"/>
          </a:solidFill>
          <a:ln/>
        </p:spPr>
      </p:sp>
      <p:pic>
        <p:nvPicPr>
          <p:cNvPr id="21" name="Image 4" descr="Removed outliers">    </p:cNvPr>
          <p:cNvPicPr>
            <a:picLocks noChangeAspect="1"/>
          </p:cNvPicPr>
          <p:nvPr/>
        </p:nvPicPr>
        <p:blipFill>
          <a:blip r:embed="rId5"/>
          <a:stretch>
            <a:fillRect/>
          </a:stretch>
        </p:blipFill>
        <p:spPr>
          <a:xfrm>
            <a:off x="886968" y="3904488"/>
            <a:ext cx="237744" cy="237744"/>
          </a:xfrm>
          <a:prstGeom prst="rect">
            <a:avLst/>
          </a:prstGeom>
        </p:spPr>
      </p:pic>
      <p:sp>
        <p:nvSpPr>
          <p:cNvPr id="22" name="Text 15"/>
          <p:cNvSpPr txBox="1"/>
          <p:nvPr/>
        </p:nvSpPr>
        <p:spPr>
          <a:xfrm>
            <a:off x="1463040" y="3566160"/>
            <a:ext cx="2788920" cy="914400"/>
          </a:xfrm>
          <a:prstGeom prst="rect">
            <a:avLst/>
          </a:prstGeom>
          <a:noFill/>
          <a:ln/>
        </p:spPr>
        <p:txBody>
          <a:bodyPr wrap="square" lIns="0" tIns="0" rIns="0" bIns="0" rtlCol="0" anchor="ctr"/>
          <a:lstStyle/>
          <a:p>
            <a:pPr indent="0" marL="0">
              <a:buNone/>
            </a:pPr>
            <a:r>
              <a:rPr lang="en-US" sz="1800" dirty="0">
                <a:solidFill>
                  <a:schemeClr val="tx1"/>
                </a:solidFill>
              </a:rPr>
              <a:t>Removed outliers</a:t>
            </a:r>
            <a:endParaRPr lang="en-US" sz="1800" dirty="0"/>
          </a:p>
        </p:txBody>
      </p:sp>
      <p:sp>
        <p:nvSpPr>
          <p:cNvPr id="23" name="Clean 6"/>
          <p:cNvSpPr/>
          <p:nvPr/>
        </p:nvSpPr>
        <p:spPr>
          <a:xfrm>
            <a:off x="4754880" y="3566160"/>
            <a:ext cx="3840480" cy="914400"/>
          </a:xfrm>
          <a:prstGeom prst="roundRect">
            <a:avLst>
              <a:gd name="adj" fmla="val 12000"/>
            </a:avLst>
          </a:prstGeom>
          <a:solidFill>
            <a:schemeClr val="bg2"/>
          </a:solidFill>
          <a:ln/>
        </p:spPr>
      </p:sp>
      <p:sp>
        <p:nvSpPr>
          <p:cNvPr id="24" name="Shape 17"/>
          <p:cNvSpPr/>
          <p:nvPr/>
        </p:nvSpPr>
        <p:spPr>
          <a:xfrm>
            <a:off x="4937760" y="3749040"/>
            <a:ext cx="548640" cy="548640"/>
          </a:xfrm>
          <a:prstGeom prst="ellipse">
            <a:avLst/>
          </a:prstGeom>
          <a:solidFill>
            <a:schemeClr val="accent4"/>
          </a:solidFill>
          <a:ln/>
        </p:spPr>
      </p:sp>
      <p:pic>
        <p:nvPicPr>
          <p:cNvPr id="25" name="Image 5" descr="Fixed date format">    </p:cNvPr>
          <p:cNvPicPr>
            <a:picLocks noChangeAspect="1"/>
          </p:cNvPicPr>
          <p:nvPr/>
        </p:nvPicPr>
        <p:blipFill>
          <a:blip r:embed="rId6"/>
          <a:stretch>
            <a:fillRect/>
          </a:stretch>
        </p:blipFill>
        <p:spPr>
          <a:xfrm>
            <a:off x="5093208" y="3904488"/>
            <a:ext cx="237744" cy="237744"/>
          </a:xfrm>
          <a:prstGeom prst="rect">
            <a:avLst/>
          </a:prstGeom>
        </p:spPr>
      </p:pic>
      <p:sp>
        <p:nvSpPr>
          <p:cNvPr id="26" name="Text 18"/>
          <p:cNvSpPr txBox="1"/>
          <p:nvPr/>
        </p:nvSpPr>
        <p:spPr>
          <a:xfrm>
            <a:off x="5669280" y="3566160"/>
            <a:ext cx="2788920" cy="914400"/>
          </a:xfrm>
          <a:prstGeom prst="rect">
            <a:avLst/>
          </a:prstGeom>
          <a:noFill/>
          <a:ln/>
        </p:spPr>
        <p:txBody>
          <a:bodyPr wrap="square" lIns="0" tIns="0" rIns="0" bIns="0" rtlCol="0" anchor="ctr"/>
          <a:lstStyle/>
          <a:p>
            <a:pPr indent="0" marL="0">
              <a:buNone/>
            </a:pPr>
            <a:r>
              <a:rPr lang="en-US" sz="1800" dirty="0">
                <a:solidFill>
                  <a:schemeClr val="tx1"/>
                </a:solidFill>
              </a:rPr>
              <a:t>Fixed date format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Making Data Ready for Model</a:t>
            </a:r>
            <a:endParaRPr lang="en-US" sz="3600" dirty="0"/>
          </a:p>
        </p:txBody>
      </p:sp>
      <p:sp>
        <p:nvSpPr>
          <p:cNvPr id="3" name="Row 1"/>
          <p:cNvSpPr/>
          <p:nvPr/>
        </p:nvSpPr>
        <p:spPr>
          <a:xfrm>
            <a:off x="548640" y="1325880"/>
            <a:ext cx="8046720" cy="731520"/>
          </a:xfrm>
          <a:prstGeom prst="roundRect">
            <a:avLst>
              <a:gd name="adj" fmla="val 15000"/>
            </a:avLst>
          </a:prstGeom>
          <a:solidFill>
            <a:schemeClr val="bg2"/>
          </a:solidFill>
          <a:ln/>
        </p:spPr>
      </p:sp>
      <p:sp>
        <p:nvSpPr>
          <p:cNvPr id="4" name="Shape 2"/>
          <p:cNvSpPr/>
          <p:nvPr/>
        </p:nvSpPr>
        <p:spPr>
          <a:xfrm>
            <a:off x="749808" y="1444752"/>
            <a:ext cx="493776" cy="493776"/>
          </a:xfrm>
          <a:prstGeom prst="ellipse">
            <a:avLst/>
          </a:prstGeom>
          <a:solidFill>
            <a:schemeClr val="accent1"/>
          </a:solidFill>
          <a:ln/>
        </p:spPr>
      </p:sp>
      <p:pic>
        <p:nvPicPr>
          <p:cNvPr id="5" name="Image 0" descr="FaCalendarAlt">    </p:cNvPr>
          <p:cNvPicPr>
            <a:picLocks noChangeAspect="1"/>
          </p:cNvPicPr>
          <p:nvPr/>
        </p:nvPicPr>
        <p:blipFill>
          <a:blip r:embed="rId1"/>
          <a:stretch>
            <a:fillRect/>
          </a:stretch>
        </p:blipFill>
        <p:spPr>
          <a:xfrm>
            <a:off x="883128" y="1578072"/>
            <a:ext cx="227137" cy="227137"/>
          </a:xfrm>
          <a:prstGeom prst="rect">
            <a:avLst/>
          </a:prstGeom>
        </p:spPr>
      </p:pic>
      <p:sp>
        <p:nvSpPr>
          <p:cNvPr id="6" name="Text 3"/>
          <p:cNvSpPr txBox="1"/>
          <p:nvPr/>
        </p:nvSpPr>
        <p:spPr>
          <a:xfrm>
            <a:off x="1554480" y="1325880"/>
            <a:ext cx="6858000" cy="731520"/>
          </a:xfrm>
          <a:prstGeom prst="rect">
            <a:avLst/>
          </a:prstGeom>
          <a:noFill/>
          <a:ln/>
        </p:spPr>
        <p:txBody>
          <a:bodyPr wrap="square" lIns="0" tIns="0" rIns="0" bIns="0" rtlCol="0" anchor="ctr"/>
          <a:lstStyle/>
          <a:p>
            <a:pPr indent="0" marL="0">
              <a:buNone/>
            </a:pPr>
            <a:r>
              <a:rPr lang="en-US" sz="2200" b="1" dirty="0">
                <a:solidFill>
                  <a:schemeClr val="accent1"/>
                </a:solidFill>
              </a:rPr>
              <a:t>Date </a:t>
            </a:r>
            <a:pPr indent="0" marL="0">
              <a:buNone/>
            </a:pPr>
            <a:r>
              <a:rPr lang="en-US" sz="2200" dirty="0">
                <a:solidFill>
                  <a:schemeClr val="tx1"/>
                </a:solidFill>
              </a:rPr>
              <a:t>split into year, month, day</a:t>
            </a:r>
            <a:endParaRPr lang="en-US" sz="2200" dirty="0"/>
          </a:p>
        </p:txBody>
      </p:sp>
      <p:sp>
        <p:nvSpPr>
          <p:cNvPr id="7" name="Row 2"/>
          <p:cNvSpPr/>
          <p:nvPr/>
        </p:nvSpPr>
        <p:spPr>
          <a:xfrm>
            <a:off x="548640" y="2194560"/>
            <a:ext cx="8046720" cy="731520"/>
          </a:xfrm>
          <a:prstGeom prst="roundRect">
            <a:avLst>
              <a:gd name="adj" fmla="val 15000"/>
            </a:avLst>
          </a:prstGeom>
          <a:solidFill>
            <a:schemeClr val="bg2"/>
          </a:solidFill>
          <a:ln/>
        </p:spPr>
      </p:sp>
      <p:sp>
        <p:nvSpPr>
          <p:cNvPr id="8" name="Shape 5"/>
          <p:cNvSpPr/>
          <p:nvPr/>
        </p:nvSpPr>
        <p:spPr>
          <a:xfrm>
            <a:off x="749808" y="2313432"/>
            <a:ext cx="493776" cy="493776"/>
          </a:xfrm>
          <a:prstGeom prst="ellipse">
            <a:avLst/>
          </a:prstGeom>
          <a:solidFill>
            <a:schemeClr val="accent1"/>
          </a:solidFill>
          <a:ln/>
        </p:spPr>
      </p:sp>
      <p:pic>
        <p:nvPicPr>
          <p:cNvPr id="9" name="Image 1" descr="FaTags">    </p:cNvPr>
          <p:cNvPicPr>
            <a:picLocks noChangeAspect="1"/>
          </p:cNvPicPr>
          <p:nvPr/>
        </p:nvPicPr>
        <p:blipFill>
          <a:blip r:embed="rId2"/>
          <a:stretch>
            <a:fillRect/>
          </a:stretch>
        </p:blipFill>
        <p:spPr>
          <a:xfrm>
            <a:off x="883128" y="2446752"/>
            <a:ext cx="227137" cy="227137"/>
          </a:xfrm>
          <a:prstGeom prst="rect">
            <a:avLst/>
          </a:prstGeom>
        </p:spPr>
      </p:pic>
      <p:sp>
        <p:nvSpPr>
          <p:cNvPr id="10" name="Text 6"/>
          <p:cNvSpPr txBox="1"/>
          <p:nvPr/>
        </p:nvSpPr>
        <p:spPr>
          <a:xfrm>
            <a:off x="1554480" y="2194560"/>
            <a:ext cx="6858000" cy="731520"/>
          </a:xfrm>
          <a:prstGeom prst="rect">
            <a:avLst/>
          </a:prstGeom>
          <a:noFill/>
          <a:ln/>
        </p:spPr>
        <p:txBody>
          <a:bodyPr wrap="square" lIns="0" tIns="0" rIns="0" bIns="0" rtlCol="0" anchor="ctr"/>
          <a:lstStyle/>
          <a:p>
            <a:pPr indent="0" marL="0">
              <a:buNone/>
            </a:pPr>
            <a:r>
              <a:rPr lang="en-US" sz="2200" b="1" dirty="0">
                <a:solidFill>
                  <a:schemeClr val="accent1"/>
                </a:solidFill>
              </a:rPr>
              <a:t>Text </a:t>
            </a:r>
            <a:pPr indent="0" marL="0">
              <a:buNone/>
            </a:pPr>
            <a:r>
              <a:rPr lang="en-US" sz="2200" dirty="0">
                <a:solidFill>
                  <a:schemeClr val="tx1"/>
                </a:solidFill>
              </a:rPr>
              <a:t>changed into numbers (One-Hot)</a:t>
            </a:r>
            <a:endParaRPr lang="en-US" sz="2200" dirty="0"/>
          </a:p>
        </p:txBody>
      </p:sp>
      <p:sp>
        <p:nvSpPr>
          <p:cNvPr id="11" name="Row 3"/>
          <p:cNvSpPr/>
          <p:nvPr/>
        </p:nvSpPr>
        <p:spPr>
          <a:xfrm>
            <a:off x="548640" y="3063240"/>
            <a:ext cx="8046720" cy="731520"/>
          </a:xfrm>
          <a:prstGeom prst="roundRect">
            <a:avLst>
              <a:gd name="adj" fmla="val 15000"/>
            </a:avLst>
          </a:prstGeom>
          <a:solidFill>
            <a:schemeClr val="bg2"/>
          </a:solidFill>
          <a:ln/>
        </p:spPr>
      </p:sp>
      <p:sp>
        <p:nvSpPr>
          <p:cNvPr id="12" name="Shape 8"/>
          <p:cNvSpPr/>
          <p:nvPr/>
        </p:nvSpPr>
        <p:spPr>
          <a:xfrm>
            <a:off x="749808" y="3182112"/>
            <a:ext cx="493776" cy="493776"/>
          </a:xfrm>
          <a:prstGeom prst="ellipse">
            <a:avLst/>
          </a:prstGeom>
          <a:solidFill>
            <a:schemeClr val="accent1"/>
          </a:solidFill>
          <a:ln/>
        </p:spPr>
      </p:sp>
      <p:pic>
        <p:nvPicPr>
          <p:cNvPr id="13" name="Image 2" descr="FaBalanceScale">    </p:cNvPr>
          <p:cNvPicPr>
            <a:picLocks noChangeAspect="1"/>
          </p:cNvPicPr>
          <p:nvPr/>
        </p:nvPicPr>
        <p:blipFill>
          <a:blip r:embed="rId3"/>
          <a:stretch>
            <a:fillRect/>
          </a:stretch>
        </p:blipFill>
        <p:spPr>
          <a:xfrm>
            <a:off x="883128" y="3315432"/>
            <a:ext cx="227137" cy="227137"/>
          </a:xfrm>
          <a:prstGeom prst="rect">
            <a:avLst/>
          </a:prstGeom>
        </p:spPr>
      </p:pic>
      <p:sp>
        <p:nvSpPr>
          <p:cNvPr id="14" name="Text 9"/>
          <p:cNvSpPr txBox="1"/>
          <p:nvPr/>
        </p:nvSpPr>
        <p:spPr>
          <a:xfrm>
            <a:off x="1554480" y="3063240"/>
            <a:ext cx="6858000" cy="731520"/>
          </a:xfrm>
          <a:prstGeom prst="rect">
            <a:avLst/>
          </a:prstGeom>
          <a:noFill/>
          <a:ln/>
        </p:spPr>
        <p:txBody>
          <a:bodyPr wrap="square" lIns="0" tIns="0" rIns="0" bIns="0" rtlCol="0" anchor="ctr"/>
          <a:lstStyle/>
          <a:p>
            <a:pPr indent="0" marL="0">
              <a:buNone/>
            </a:pPr>
            <a:r>
              <a:rPr lang="en-US" sz="2200" b="1" dirty="0">
                <a:solidFill>
                  <a:schemeClr val="accent1"/>
                </a:solidFill>
              </a:rPr>
              <a:t>Values </a:t>
            </a:r>
            <a:pPr indent="0" marL="0">
              <a:buNone/>
            </a:pPr>
            <a:r>
              <a:rPr lang="en-US" sz="2200" dirty="0">
                <a:solidFill>
                  <a:schemeClr val="tx1"/>
                </a:solidFill>
              </a:rPr>
              <a:t>scaled between 0 and 1</a:t>
            </a:r>
            <a:endParaRPr lang="en-US" sz="2200" dirty="0"/>
          </a:p>
        </p:txBody>
      </p:sp>
      <p:sp>
        <p:nvSpPr>
          <p:cNvPr id="15" name="Row 4"/>
          <p:cNvSpPr/>
          <p:nvPr/>
        </p:nvSpPr>
        <p:spPr>
          <a:xfrm>
            <a:off x="548640" y="3931920"/>
            <a:ext cx="8046720" cy="731520"/>
          </a:xfrm>
          <a:prstGeom prst="roundRect">
            <a:avLst>
              <a:gd name="adj" fmla="val 15000"/>
            </a:avLst>
          </a:prstGeom>
          <a:solidFill>
            <a:schemeClr val="bg2"/>
          </a:solidFill>
          <a:ln/>
        </p:spPr>
      </p:sp>
      <p:sp>
        <p:nvSpPr>
          <p:cNvPr id="16" name="Shape 11"/>
          <p:cNvSpPr/>
          <p:nvPr/>
        </p:nvSpPr>
        <p:spPr>
          <a:xfrm>
            <a:off x="749808" y="4050792"/>
            <a:ext cx="493776" cy="493776"/>
          </a:xfrm>
          <a:prstGeom prst="ellipse">
            <a:avLst/>
          </a:prstGeom>
          <a:solidFill>
            <a:schemeClr val="accent1"/>
          </a:solidFill>
          <a:ln/>
        </p:spPr>
      </p:sp>
      <p:pic>
        <p:nvPicPr>
          <p:cNvPr id="17" name="Image 3" descr="FaCut">    </p:cNvPr>
          <p:cNvPicPr>
            <a:picLocks noChangeAspect="1"/>
          </p:cNvPicPr>
          <p:nvPr/>
        </p:nvPicPr>
        <p:blipFill>
          <a:blip r:embed="rId4"/>
          <a:stretch>
            <a:fillRect/>
          </a:stretch>
        </p:blipFill>
        <p:spPr>
          <a:xfrm>
            <a:off x="883128" y="4184112"/>
            <a:ext cx="227137" cy="227137"/>
          </a:xfrm>
          <a:prstGeom prst="rect">
            <a:avLst/>
          </a:prstGeom>
        </p:spPr>
      </p:pic>
      <p:sp>
        <p:nvSpPr>
          <p:cNvPr id="18" name="Text 12"/>
          <p:cNvSpPr txBox="1"/>
          <p:nvPr/>
        </p:nvSpPr>
        <p:spPr>
          <a:xfrm>
            <a:off x="1554480" y="3931920"/>
            <a:ext cx="6858000" cy="731520"/>
          </a:xfrm>
          <a:prstGeom prst="rect">
            <a:avLst/>
          </a:prstGeom>
          <a:noFill/>
          <a:ln/>
        </p:spPr>
        <p:txBody>
          <a:bodyPr wrap="square" lIns="0" tIns="0" rIns="0" bIns="0" rtlCol="0" anchor="ctr"/>
          <a:lstStyle/>
          <a:p>
            <a:pPr indent="0" marL="0">
              <a:buNone/>
            </a:pPr>
            <a:r>
              <a:rPr lang="en-US" sz="2200" b="1" dirty="0">
                <a:solidFill>
                  <a:schemeClr val="accent1"/>
                </a:solidFill>
              </a:rPr>
              <a:t>Data </a:t>
            </a:r>
            <a:pPr indent="0" marL="0">
              <a:buNone/>
            </a:pPr>
            <a:r>
              <a:rPr lang="en-US" sz="2200" dirty="0">
                <a:solidFill>
                  <a:schemeClr val="tx1"/>
                </a:solidFill>
              </a:rPr>
              <a:t>split: 80% train, 20% test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What the Data Showed</a:t>
            </a:r>
            <a:endParaRPr lang="en-US" sz="3600" dirty="0"/>
          </a:p>
        </p:txBody>
      </p:sp>
      <p:sp>
        <p:nvSpPr>
          <p:cNvPr id="3" name="Finding 1"/>
          <p:cNvSpPr/>
          <p:nvPr/>
        </p:nvSpPr>
        <p:spPr>
          <a:xfrm>
            <a:off x="548640" y="1325880"/>
            <a:ext cx="3840480" cy="1463040"/>
          </a:xfrm>
          <a:prstGeom prst="roundRect">
            <a:avLst>
              <a:gd name="adj" fmla="val 7500"/>
            </a:avLst>
          </a:prstGeom>
          <a:solidFill>
            <a:schemeClr val="bg2"/>
          </a:solidFill>
          <a:ln/>
        </p:spPr>
      </p:sp>
      <p:sp>
        <p:nvSpPr>
          <p:cNvPr id="4" name="Shape 2"/>
          <p:cNvSpPr/>
          <p:nvPr/>
        </p:nvSpPr>
        <p:spPr>
          <a:xfrm>
            <a:off x="777240" y="1600200"/>
            <a:ext cx="640080" cy="640080"/>
          </a:xfrm>
          <a:prstGeom prst="ellipse">
            <a:avLst/>
          </a:prstGeom>
          <a:solidFill>
            <a:schemeClr val="accent1"/>
          </a:solidFill>
          <a:ln/>
        </p:spPr>
      </p:sp>
      <p:pic>
        <p:nvPicPr>
          <p:cNvPr id="5" name="Image 0" descr="Ethnicity">    </p:cNvPr>
          <p:cNvPicPr>
            <a:picLocks noChangeAspect="1"/>
          </p:cNvPicPr>
          <p:nvPr/>
        </p:nvPicPr>
        <p:blipFill>
          <a:blip r:embed="rId1"/>
          <a:stretch>
            <a:fillRect/>
          </a:stretch>
        </p:blipFill>
        <p:spPr>
          <a:xfrm>
            <a:off x="960120" y="1783080"/>
            <a:ext cx="274320" cy="274320"/>
          </a:xfrm>
          <a:prstGeom prst="rect">
            <a:avLst/>
          </a:prstGeom>
        </p:spPr>
      </p:pic>
      <p:sp>
        <p:nvSpPr>
          <p:cNvPr id="6" name="Text 3"/>
          <p:cNvSpPr txBox="1"/>
          <p:nvPr/>
        </p:nvSpPr>
        <p:spPr>
          <a:xfrm>
            <a:off x="1600200" y="1508760"/>
            <a:ext cx="2651760" cy="411480"/>
          </a:xfrm>
          <a:prstGeom prst="rect">
            <a:avLst/>
          </a:prstGeom>
          <a:noFill/>
          <a:ln/>
        </p:spPr>
        <p:txBody>
          <a:bodyPr wrap="square" lIns="0" tIns="0" rIns="0" bIns="0" rtlCol="0" anchor="ctr"/>
          <a:lstStyle/>
          <a:p>
            <a:pPr indent="0" marL="0">
              <a:buNone/>
            </a:pPr>
            <a:r>
              <a:rPr lang="en-US" sz="2000" b="1" dirty="0">
                <a:solidFill>
                  <a:schemeClr val="accent1"/>
                </a:solidFill>
              </a:rPr>
              <a:t>Ethnicity</a:t>
            </a:r>
            <a:endParaRPr lang="en-US" sz="2000" dirty="0"/>
          </a:p>
        </p:txBody>
      </p:sp>
      <p:sp>
        <p:nvSpPr>
          <p:cNvPr id="7" name="Text 4"/>
          <p:cNvSpPr txBox="1"/>
          <p:nvPr/>
        </p:nvSpPr>
        <p:spPr>
          <a:xfrm>
            <a:off x="1600200" y="1965960"/>
            <a:ext cx="2651760" cy="731520"/>
          </a:xfrm>
          <a:prstGeom prst="rect">
            <a:avLst/>
          </a:prstGeom>
          <a:noFill/>
          <a:ln/>
        </p:spPr>
        <p:txBody>
          <a:bodyPr wrap="square" lIns="0" tIns="0" rIns="0" bIns="0" rtlCol="0" anchor="t"/>
          <a:lstStyle/>
          <a:p>
            <a:pPr indent="0" marL="0">
              <a:buNone/>
            </a:pPr>
            <a:r>
              <a:rPr lang="en-US" sz="1600" dirty="0">
                <a:solidFill>
                  <a:schemeClr val="tx1"/>
                </a:solidFill>
              </a:rPr>
              <a:t>Asians earn the most per year</a:t>
            </a:r>
            <a:endParaRPr lang="en-US" sz="1600" dirty="0"/>
          </a:p>
        </p:txBody>
      </p:sp>
      <p:sp>
        <p:nvSpPr>
          <p:cNvPr id="8" name="Finding 2"/>
          <p:cNvSpPr/>
          <p:nvPr/>
        </p:nvSpPr>
        <p:spPr>
          <a:xfrm>
            <a:off x="4754880" y="1325880"/>
            <a:ext cx="3840480" cy="1463040"/>
          </a:xfrm>
          <a:prstGeom prst="roundRect">
            <a:avLst>
              <a:gd name="adj" fmla="val 7500"/>
            </a:avLst>
          </a:prstGeom>
          <a:solidFill>
            <a:schemeClr val="bg2"/>
          </a:solidFill>
          <a:ln/>
        </p:spPr>
      </p:sp>
      <p:sp>
        <p:nvSpPr>
          <p:cNvPr id="9" name="Shape 6"/>
          <p:cNvSpPr/>
          <p:nvPr/>
        </p:nvSpPr>
        <p:spPr>
          <a:xfrm>
            <a:off x="4983480" y="1600200"/>
            <a:ext cx="640080" cy="640080"/>
          </a:xfrm>
          <a:prstGeom prst="ellipse">
            <a:avLst/>
          </a:prstGeom>
          <a:solidFill>
            <a:schemeClr val="accent1"/>
          </a:solidFill>
          <a:ln/>
        </p:spPr>
      </p:sp>
      <p:pic>
        <p:nvPicPr>
          <p:cNvPr id="10" name="Image 1" descr="Gender">    </p:cNvPr>
          <p:cNvPicPr>
            <a:picLocks noChangeAspect="1"/>
          </p:cNvPicPr>
          <p:nvPr/>
        </p:nvPicPr>
        <p:blipFill>
          <a:blip r:embed="rId2"/>
          <a:stretch>
            <a:fillRect/>
          </a:stretch>
        </p:blipFill>
        <p:spPr>
          <a:xfrm>
            <a:off x="5166360" y="1783080"/>
            <a:ext cx="274320" cy="274320"/>
          </a:xfrm>
          <a:prstGeom prst="rect">
            <a:avLst/>
          </a:prstGeom>
        </p:spPr>
      </p:pic>
      <p:sp>
        <p:nvSpPr>
          <p:cNvPr id="11" name="Text 7"/>
          <p:cNvSpPr txBox="1"/>
          <p:nvPr/>
        </p:nvSpPr>
        <p:spPr>
          <a:xfrm>
            <a:off x="5806440" y="1508760"/>
            <a:ext cx="2651760" cy="411480"/>
          </a:xfrm>
          <a:prstGeom prst="rect">
            <a:avLst/>
          </a:prstGeom>
          <a:noFill/>
          <a:ln/>
        </p:spPr>
        <p:txBody>
          <a:bodyPr wrap="square" lIns="0" tIns="0" rIns="0" bIns="0" rtlCol="0" anchor="ctr"/>
          <a:lstStyle/>
          <a:p>
            <a:pPr indent="0" marL="0">
              <a:buNone/>
            </a:pPr>
            <a:r>
              <a:rPr lang="en-US" sz="2000" b="1" dirty="0">
                <a:solidFill>
                  <a:schemeClr val="accent1"/>
                </a:solidFill>
              </a:rPr>
              <a:t>Gender</a:t>
            </a:r>
            <a:endParaRPr lang="en-US" sz="2000" dirty="0"/>
          </a:p>
        </p:txBody>
      </p:sp>
      <p:sp>
        <p:nvSpPr>
          <p:cNvPr id="12" name="Text 8"/>
          <p:cNvSpPr txBox="1"/>
          <p:nvPr/>
        </p:nvSpPr>
        <p:spPr>
          <a:xfrm>
            <a:off x="5806440" y="1965960"/>
            <a:ext cx="2651760" cy="731520"/>
          </a:xfrm>
          <a:prstGeom prst="rect">
            <a:avLst/>
          </a:prstGeom>
          <a:noFill/>
          <a:ln/>
        </p:spPr>
        <p:txBody>
          <a:bodyPr wrap="square" lIns="0" tIns="0" rIns="0" bIns="0" rtlCol="0" anchor="t"/>
          <a:lstStyle/>
          <a:p>
            <a:pPr indent="0" marL="0">
              <a:buNone/>
            </a:pPr>
            <a:r>
              <a:rPr lang="en-US" sz="1600" dirty="0">
                <a:solidFill>
                  <a:schemeClr val="tx1"/>
                </a:solidFill>
              </a:rPr>
              <a:t>Males earn more than females</a:t>
            </a:r>
            <a:endParaRPr lang="en-US" sz="1600" dirty="0"/>
          </a:p>
        </p:txBody>
      </p:sp>
      <p:sp>
        <p:nvSpPr>
          <p:cNvPr id="13" name="Finding 3"/>
          <p:cNvSpPr/>
          <p:nvPr/>
        </p:nvSpPr>
        <p:spPr>
          <a:xfrm>
            <a:off x="548640" y="2971800"/>
            <a:ext cx="3840480" cy="1463040"/>
          </a:xfrm>
          <a:prstGeom prst="roundRect">
            <a:avLst>
              <a:gd name="adj" fmla="val 7500"/>
            </a:avLst>
          </a:prstGeom>
          <a:solidFill>
            <a:schemeClr val="bg2"/>
          </a:solidFill>
          <a:ln/>
        </p:spPr>
      </p:sp>
      <p:sp>
        <p:nvSpPr>
          <p:cNvPr id="14" name="Shape 10"/>
          <p:cNvSpPr/>
          <p:nvPr/>
        </p:nvSpPr>
        <p:spPr>
          <a:xfrm>
            <a:off x="777240" y="3246120"/>
            <a:ext cx="640080" cy="640080"/>
          </a:xfrm>
          <a:prstGeom prst="ellipse">
            <a:avLst/>
          </a:prstGeom>
          <a:solidFill>
            <a:schemeClr val="accent1"/>
          </a:solidFill>
          <a:ln/>
        </p:spPr>
      </p:sp>
      <p:pic>
        <p:nvPicPr>
          <p:cNvPr id="15" name="Image 2" descr="Agency">    </p:cNvPr>
          <p:cNvPicPr>
            <a:picLocks noChangeAspect="1"/>
          </p:cNvPicPr>
          <p:nvPr/>
        </p:nvPicPr>
        <p:blipFill>
          <a:blip r:embed="rId3"/>
          <a:stretch>
            <a:fillRect/>
          </a:stretch>
        </p:blipFill>
        <p:spPr>
          <a:xfrm>
            <a:off x="960120" y="3429000"/>
            <a:ext cx="274320" cy="274320"/>
          </a:xfrm>
          <a:prstGeom prst="rect">
            <a:avLst/>
          </a:prstGeom>
        </p:spPr>
      </p:pic>
      <p:sp>
        <p:nvSpPr>
          <p:cNvPr id="16" name="Text 11"/>
          <p:cNvSpPr txBox="1"/>
          <p:nvPr/>
        </p:nvSpPr>
        <p:spPr>
          <a:xfrm>
            <a:off x="1600200" y="3154680"/>
            <a:ext cx="2651760" cy="411480"/>
          </a:xfrm>
          <a:prstGeom prst="rect">
            <a:avLst/>
          </a:prstGeom>
          <a:noFill/>
          <a:ln/>
        </p:spPr>
        <p:txBody>
          <a:bodyPr wrap="square" lIns="0" tIns="0" rIns="0" bIns="0" rtlCol="0" anchor="ctr"/>
          <a:lstStyle/>
          <a:p>
            <a:pPr indent="0" marL="0">
              <a:buNone/>
            </a:pPr>
            <a:r>
              <a:rPr lang="en-US" sz="2000" b="1" dirty="0">
                <a:solidFill>
                  <a:schemeClr val="accent1"/>
                </a:solidFill>
              </a:rPr>
              <a:t>Agency</a:t>
            </a:r>
            <a:endParaRPr lang="en-US" sz="2000" dirty="0"/>
          </a:p>
        </p:txBody>
      </p:sp>
      <p:sp>
        <p:nvSpPr>
          <p:cNvPr id="17" name="Text 12"/>
          <p:cNvSpPr txBox="1"/>
          <p:nvPr/>
        </p:nvSpPr>
        <p:spPr>
          <a:xfrm>
            <a:off x="1600200" y="3611880"/>
            <a:ext cx="2651760" cy="731520"/>
          </a:xfrm>
          <a:prstGeom prst="rect">
            <a:avLst/>
          </a:prstGeom>
          <a:noFill/>
          <a:ln/>
        </p:spPr>
        <p:txBody>
          <a:bodyPr wrap="square" lIns="0" tIns="0" rIns="0" bIns="0" rtlCol="0" anchor="t"/>
          <a:lstStyle/>
          <a:p>
            <a:pPr indent="0" marL="0">
              <a:buNone/>
            </a:pPr>
            <a:r>
              <a:rPr lang="en-US" sz="1600" dirty="0">
                <a:solidFill>
                  <a:schemeClr val="tx1"/>
                </a:solidFill>
              </a:rPr>
              <a:t>Salary is different in each agency</a:t>
            </a:r>
            <a:endParaRPr lang="en-US" sz="1600" dirty="0"/>
          </a:p>
        </p:txBody>
      </p:sp>
      <p:sp>
        <p:nvSpPr>
          <p:cNvPr id="18" name="Finding 4"/>
          <p:cNvSpPr/>
          <p:nvPr/>
        </p:nvSpPr>
        <p:spPr>
          <a:xfrm>
            <a:off x="4754880" y="2971800"/>
            <a:ext cx="3840480" cy="1463040"/>
          </a:xfrm>
          <a:prstGeom prst="roundRect">
            <a:avLst>
              <a:gd name="adj" fmla="val 7500"/>
            </a:avLst>
          </a:prstGeom>
          <a:solidFill>
            <a:schemeClr val="bg2"/>
          </a:solidFill>
          <a:ln/>
        </p:spPr>
      </p:sp>
      <p:sp>
        <p:nvSpPr>
          <p:cNvPr id="19" name="Shape 14"/>
          <p:cNvSpPr/>
          <p:nvPr/>
        </p:nvSpPr>
        <p:spPr>
          <a:xfrm>
            <a:off x="4983480" y="3246120"/>
            <a:ext cx="640080" cy="640080"/>
          </a:xfrm>
          <a:prstGeom prst="ellipse">
            <a:avLst/>
          </a:prstGeom>
          <a:solidFill>
            <a:schemeClr val="accent1"/>
          </a:solidFill>
          <a:ln/>
        </p:spPr>
      </p:sp>
      <p:pic>
        <p:nvPicPr>
          <p:cNvPr id="20" name="Image 3" descr="Status">    </p:cNvPr>
          <p:cNvPicPr>
            <a:picLocks noChangeAspect="1"/>
          </p:cNvPicPr>
          <p:nvPr/>
        </p:nvPicPr>
        <p:blipFill>
          <a:blip r:embed="rId4"/>
          <a:stretch>
            <a:fillRect/>
          </a:stretch>
        </p:blipFill>
        <p:spPr>
          <a:xfrm>
            <a:off x="5166360" y="3429000"/>
            <a:ext cx="274320" cy="274320"/>
          </a:xfrm>
          <a:prstGeom prst="rect">
            <a:avLst/>
          </a:prstGeom>
        </p:spPr>
      </p:pic>
      <p:sp>
        <p:nvSpPr>
          <p:cNvPr id="21" name="Text 15"/>
          <p:cNvSpPr txBox="1"/>
          <p:nvPr/>
        </p:nvSpPr>
        <p:spPr>
          <a:xfrm>
            <a:off x="5806440" y="3154680"/>
            <a:ext cx="2651760" cy="411480"/>
          </a:xfrm>
          <a:prstGeom prst="rect">
            <a:avLst/>
          </a:prstGeom>
          <a:noFill/>
          <a:ln/>
        </p:spPr>
        <p:txBody>
          <a:bodyPr wrap="square" lIns="0" tIns="0" rIns="0" bIns="0" rtlCol="0" anchor="ctr"/>
          <a:lstStyle/>
          <a:p>
            <a:pPr indent="0" marL="0">
              <a:buNone/>
            </a:pPr>
            <a:r>
              <a:rPr lang="en-US" sz="2000" b="1" dirty="0">
                <a:solidFill>
                  <a:schemeClr val="accent1"/>
                </a:solidFill>
              </a:rPr>
              <a:t>Status</a:t>
            </a:r>
            <a:endParaRPr lang="en-US" sz="2000" dirty="0"/>
          </a:p>
        </p:txBody>
      </p:sp>
      <p:sp>
        <p:nvSpPr>
          <p:cNvPr id="22" name="Text 16"/>
          <p:cNvSpPr txBox="1"/>
          <p:nvPr/>
        </p:nvSpPr>
        <p:spPr>
          <a:xfrm>
            <a:off x="5806440" y="3611880"/>
            <a:ext cx="2651760" cy="731520"/>
          </a:xfrm>
          <a:prstGeom prst="rect">
            <a:avLst/>
          </a:prstGeom>
          <a:noFill/>
          <a:ln/>
        </p:spPr>
        <p:txBody>
          <a:bodyPr wrap="square" lIns="0" tIns="0" rIns="0" bIns="0" rtlCol="0" anchor="t"/>
          <a:lstStyle/>
          <a:p>
            <a:pPr indent="0" marL="0">
              <a:buNone/>
            </a:pPr>
            <a:r>
              <a:rPr lang="en-US" sz="1600" dirty="0">
                <a:solidFill>
                  <a:schemeClr val="tx1"/>
                </a:solidFill>
              </a:rPr>
              <a:t>ERF &amp; URF staff earn the most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Salary Prediction Model</a:t>
            </a:r>
            <a:endParaRPr lang="en-US" sz="3600" dirty="0"/>
          </a:p>
        </p:txBody>
      </p:sp>
      <p:sp>
        <p:nvSpPr>
          <p:cNvPr id="3" name="Result 1"/>
          <p:cNvSpPr/>
          <p:nvPr/>
        </p:nvSpPr>
        <p:spPr>
          <a:xfrm>
            <a:off x="548640" y="1371600"/>
            <a:ext cx="2560320" cy="2103120"/>
          </a:xfrm>
          <a:prstGeom prst="roundRect">
            <a:avLst>
              <a:gd name="adj" fmla="val 5217"/>
            </a:avLst>
          </a:prstGeom>
          <a:solidFill>
            <a:schemeClr val="bg2"/>
          </a:solidFill>
          <a:ln/>
        </p:spPr>
      </p:sp>
      <p:sp>
        <p:nvSpPr>
          <p:cNvPr id="4" name="Text 2"/>
          <p:cNvSpPr txBox="1"/>
          <p:nvPr/>
        </p:nvSpPr>
        <p:spPr>
          <a:xfrm>
            <a:off x="548640" y="1554480"/>
            <a:ext cx="2560320" cy="1097280"/>
          </a:xfrm>
          <a:prstGeom prst="rect">
            <a:avLst/>
          </a:prstGeom>
          <a:noFill/>
          <a:ln/>
        </p:spPr>
        <p:txBody>
          <a:bodyPr wrap="square" lIns="0" tIns="0" rIns="0" bIns="0" rtlCol="0" anchor="ctr"/>
          <a:lstStyle/>
          <a:p>
            <a:pPr algn="ctr" indent="0" marL="0">
              <a:buNone/>
            </a:pPr>
            <a:r>
              <a:rPr lang="en-US" sz="2800" b="1" dirty="0">
                <a:solidFill>
                  <a:schemeClr val="accent1"/>
                </a:solidFill>
              </a:rPr>
              <a:t>Linear</a:t>
            </a:r>
            <a:endParaRPr lang="en-US" sz="2800" dirty="0"/>
          </a:p>
          <a:p>
            <a:pPr algn="ctr" indent="0" marL="0">
              <a:buNone/>
            </a:pPr>
            <a:r>
              <a:rPr lang="en-US" sz="2800" b="1" dirty="0">
                <a:solidFill>
                  <a:schemeClr val="accent1"/>
                </a:solidFill>
              </a:rPr>
              <a:t>Regression</a:t>
            </a:r>
            <a:endParaRPr lang="en-US" sz="2800" dirty="0"/>
          </a:p>
        </p:txBody>
      </p:sp>
      <p:sp>
        <p:nvSpPr>
          <p:cNvPr id="5" name="Text 3"/>
          <p:cNvSpPr txBox="1"/>
          <p:nvPr/>
        </p:nvSpPr>
        <p:spPr>
          <a:xfrm>
            <a:off x="548640" y="2743200"/>
            <a:ext cx="2560320" cy="457200"/>
          </a:xfrm>
          <a:prstGeom prst="rect">
            <a:avLst/>
          </a:prstGeom>
          <a:noFill/>
          <a:ln/>
        </p:spPr>
        <p:txBody>
          <a:bodyPr wrap="square" lIns="0" tIns="0" rIns="0" bIns="0" rtlCol="0" anchor="ctr"/>
          <a:lstStyle/>
          <a:p>
            <a:pPr algn="ctr" indent="0" marL="0">
              <a:buNone/>
            </a:pPr>
            <a:r>
              <a:rPr lang="en-US" sz="1800" dirty="0">
                <a:solidFill>
                  <a:schemeClr val="tx1"/>
                </a:solidFill>
              </a:rPr>
              <a:t>Model used</a:t>
            </a:r>
            <a:endParaRPr lang="en-US" sz="1800" dirty="0"/>
          </a:p>
        </p:txBody>
      </p:sp>
      <p:sp>
        <p:nvSpPr>
          <p:cNvPr id="6" name="Result 2"/>
          <p:cNvSpPr/>
          <p:nvPr/>
        </p:nvSpPr>
        <p:spPr>
          <a:xfrm>
            <a:off x="3291840" y="1371600"/>
            <a:ext cx="2560320" cy="2103120"/>
          </a:xfrm>
          <a:prstGeom prst="roundRect">
            <a:avLst>
              <a:gd name="adj" fmla="val 5217"/>
            </a:avLst>
          </a:prstGeom>
          <a:solidFill>
            <a:schemeClr val="bg2"/>
          </a:solidFill>
          <a:ln/>
        </p:spPr>
      </p:sp>
      <p:sp>
        <p:nvSpPr>
          <p:cNvPr id="7" name="Text 5"/>
          <p:cNvSpPr txBox="1"/>
          <p:nvPr/>
        </p:nvSpPr>
        <p:spPr>
          <a:xfrm>
            <a:off x="3291840" y="1554480"/>
            <a:ext cx="2560320" cy="1097280"/>
          </a:xfrm>
          <a:prstGeom prst="rect">
            <a:avLst/>
          </a:prstGeom>
          <a:noFill/>
          <a:ln/>
        </p:spPr>
        <p:txBody>
          <a:bodyPr wrap="square" lIns="0" tIns="0" rIns="0" bIns="0" rtlCol="0" anchor="ctr"/>
          <a:lstStyle/>
          <a:p>
            <a:pPr algn="ctr" indent="0" marL="0">
              <a:buNone/>
            </a:pPr>
            <a:r>
              <a:rPr lang="en-US" sz="4800" b="1" dirty="0">
                <a:solidFill>
                  <a:schemeClr val="accent1"/>
                </a:solidFill>
              </a:rPr>
              <a:t>1.0</a:t>
            </a:r>
            <a:endParaRPr lang="en-US" sz="4800" dirty="0"/>
          </a:p>
        </p:txBody>
      </p:sp>
      <p:sp>
        <p:nvSpPr>
          <p:cNvPr id="8" name="Text 6"/>
          <p:cNvSpPr txBox="1"/>
          <p:nvPr/>
        </p:nvSpPr>
        <p:spPr>
          <a:xfrm>
            <a:off x="3291840" y="2743200"/>
            <a:ext cx="2560320" cy="457200"/>
          </a:xfrm>
          <a:prstGeom prst="rect">
            <a:avLst/>
          </a:prstGeom>
          <a:noFill/>
          <a:ln/>
        </p:spPr>
        <p:txBody>
          <a:bodyPr wrap="square" lIns="0" tIns="0" rIns="0" bIns="0" rtlCol="0" anchor="ctr"/>
          <a:lstStyle/>
          <a:p>
            <a:pPr algn="ctr" indent="0" marL="0">
              <a:buNone/>
            </a:pPr>
            <a:r>
              <a:rPr lang="en-US" sz="1800" dirty="0">
                <a:solidFill>
                  <a:schemeClr val="tx1"/>
                </a:solidFill>
              </a:rPr>
              <a:t>R² score</a:t>
            </a:r>
            <a:endParaRPr lang="en-US" sz="1800" dirty="0"/>
          </a:p>
        </p:txBody>
      </p:sp>
      <p:sp>
        <p:nvSpPr>
          <p:cNvPr id="9" name="Result 3"/>
          <p:cNvSpPr/>
          <p:nvPr/>
        </p:nvSpPr>
        <p:spPr>
          <a:xfrm>
            <a:off x="6035040" y="1371600"/>
            <a:ext cx="2560320" cy="2103120"/>
          </a:xfrm>
          <a:prstGeom prst="roundRect">
            <a:avLst>
              <a:gd name="adj" fmla="val 5217"/>
            </a:avLst>
          </a:prstGeom>
          <a:solidFill>
            <a:schemeClr val="bg2"/>
          </a:solidFill>
          <a:ln/>
        </p:spPr>
      </p:sp>
      <p:sp>
        <p:nvSpPr>
          <p:cNvPr id="10" name="Text 8"/>
          <p:cNvSpPr txBox="1"/>
          <p:nvPr/>
        </p:nvSpPr>
        <p:spPr>
          <a:xfrm>
            <a:off x="6035040" y="1554480"/>
            <a:ext cx="2560320" cy="1097280"/>
          </a:xfrm>
          <a:prstGeom prst="rect">
            <a:avLst/>
          </a:prstGeom>
          <a:noFill/>
          <a:ln/>
        </p:spPr>
        <p:txBody>
          <a:bodyPr wrap="square" lIns="0" tIns="0" rIns="0" bIns="0" rtlCol="0" anchor="ctr"/>
          <a:lstStyle/>
          <a:p>
            <a:pPr algn="ctr" indent="0" marL="0">
              <a:buNone/>
            </a:pPr>
            <a:r>
              <a:rPr lang="en-US" sz="4800" b="1" dirty="0">
                <a:solidFill>
                  <a:schemeClr val="accent1"/>
                </a:solidFill>
              </a:rPr>
              <a:t>≈ 0</a:t>
            </a:r>
            <a:endParaRPr lang="en-US" sz="4800" dirty="0"/>
          </a:p>
        </p:txBody>
      </p:sp>
      <p:sp>
        <p:nvSpPr>
          <p:cNvPr id="11" name="Text 9"/>
          <p:cNvSpPr txBox="1"/>
          <p:nvPr/>
        </p:nvSpPr>
        <p:spPr>
          <a:xfrm>
            <a:off x="6035040" y="2743200"/>
            <a:ext cx="2560320" cy="457200"/>
          </a:xfrm>
          <a:prstGeom prst="rect">
            <a:avLst/>
          </a:prstGeom>
          <a:noFill/>
          <a:ln/>
        </p:spPr>
        <p:txBody>
          <a:bodyPr wrap="square" lIns="0" tIns="0" rIns="0" bIns="0" rtlCol="0" anchor="ctr"/>
          <a:lstStyle/>
          <a:p>
            <a:pPr algn="ctr" indent="0" marL="0">
              <a:buNone/>
            </a:pPr>
            <a:r>
              <a:rPr lang="en-US" sz="1800" dirty="0">
                <a:solidFill>
                  <a:schemeClr val="tx1"/>
                </a:solidFill>
              </a:rPr>
              <a:t>Error</a:t>
            </a:r>
            <a:endParaRPr lang="en-US" sz="1800" dirty="0"/>
          </a:p>
        </p:txBody>
      </p:sp>
      <p:sp>
        <p:nvSpPr>
          <p:cNvPr id="12" name="Shape 10"/>
          <p:cNvSpPr/>
          <p:nvPr/>
        </p:nvSpPr>
        <p:spPr>
          <a:xfrm>
            <a:off x="548640" y="3794760"/>
            <a:ext cx="548640" cy="548640"/>
          </a:xfrm>
          <a:prstGeom prst="ellipse">
            <a:avLst/>
          </a:prstGeom>
          <a:solidFill>
            <a:schemeClr val="accent2"/>
          </a:solidFill>
          <a:ln/>
        </p:spPr>
      </p:sp>
      <p:sp>
        <p:nvSpPr>
          <p:cNvPr id="13" name="Text 11"/>
          <p:cNvSpPr txBox="1"/>
          <p:nvPr/>
        </p:nvSpPr>
        <p:spPr>
          <a:xfrm>
            <a:off x="548640" y="3794760"/>
            <a:ext cx="548640" cy="548640"/>
          </a:xfrm>
          <a:prstGeom prst="rect">
            <a:avLst/>
          </a:prstGeom>
          <a:noFill/>
          <a:ln/>
        </p:spPr>
        <p:txBody>
          <a:bodyPr wrap="square" lIns="0" tIns="0" rIns="0" bIns="0" rtlCol="0" anchor="ctr"/>
          <a:lstStyle/>
          <a:p>
            <a:pPr algn="ctr" indent="0" marL="0">
              <a:buNone/>
            </a:pPr>
            <a:r>
              <a:rPr lang="en-US" sz="2600" b="1" dirty="0">
                <a:solidFill>
                  <a:schemeClr val="bg1"/>
                </a:solidFill>
              </a:rPr>
              <a:t>!</a:t>
            </a:r>
            <a:endParaRPr lang="en-US" sz="2600" dirty="0"/>
          </a:p>
        </p:txBody>
      </p:sp>
      <p:sp>
        <p:nvSpPr>
          <p:cNvPr id="14" name="Text 12"/>
          <p:cNvSpPr txBox="1"/>
          <p:nvPr/>
        </p:nvSpPr>
        <p:spPr>
          <a:xfrm>
            <a:off x="1280160" y="3703320"/>
            <a:ext cx="7315200" cy="731520"/>
          </a:xfrm>
          <a:prstGeom prst="rect">
            <a:avLst/>
          </a:prstGeom>
          <a:noFill/>
          <a:ln/>
        </p:spPr>
        <p:txBody>
          <a:bodyPr wrap="square" lIns="0" tIns="0" rIns="0" bIns="0" rtlCol="0" anchor="ctr"/>
          <a:lstStyle/>
          <a:p>
            <a:pPr indent="0" marL="0">
              <a:buNone/>
            </a:pPr>
            <a:r>
              <a:rPr lang="en-US" sz="1600" dirty="0">
                <a:solidFill>
                  <a:schemeClr val="tx1"/>
                </a:solidFill>
              </a:rPr>
              <a:t>Score is perfect because Annual = Monthly × 12 and Monthly was given to the model</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822960"/>
          </a:xfrm>
          <a:prstGeom prst="rect">
            <a:avLst/>
          </a:prstGeom>
          <a:noFill/>
          <a:ln/>
        </p:spPr>
        <p:txBody>
          <a:bodyPr wrap="square" lIns="0" tIns="0" rIns="0" bIns="0" rtlCol="0" anchor="ctr"/>
          <a:lstStyle/>
          <a:p>
            <a:pPr algn="l" indent="0" marL="0">
              <a:buNone/>
            </a:pPr>
            <a:r>
              <a:rPr lang="en-US" sz="3600" b="1" dirty="0">
                <a:solidFill>
                  <a:schemeClr val="tx1"/>
                </a:solidFill>
              </a:rPr>
              <a:t>Key Insights</a:t>
            </a:r>
            <a:endParaRPr lang="en-US" sz="3600" dirty="0"/>
          </a:p>
        </p:txBody>
      </p:sp>
      <p:sp>
        <p:nvSpPr>
          <p:cNvPr id="3" name="Row 1"/>
          <p:cNvSpPr/>
          <p:nvPr/>
        </p:nvSpPr>
        <p:spPr>
          <a:xfrm>
            <a:off x="548640" y="1371600"/>
            <a:ext cx="8046720" cy="822960"/>
          </a:xfrm>
          <a:prstGeom prst="roundRect">
            <a:avLst>
              <a:gd name="adj" fmla="val 13333"/>
            </a:avLst>
          </a:prstGeom>
          <a:solidFill>
            <a:schemeClr val="bg2"/>
          </a:solidFill>
          <a:ln/>
        </p:spPr>
      </p:sp>
      <p:sp>
        <p:nvSpPr>
          <p:cNvPr id="4" name="Shape 2"/>
          <p:cNvSpPr/>
          <p:nvPr/>
        </p:nvSpPr>
        <p:spPr>
          <a:xfrm>
            <a:off x="749808" y="1490472"/>
            <a:ext cx="585216" cy="585216"/>
          </a:xfrm>
          <a:prstGeom prst="ellipse">
            <a:avLst/>
          </a:prstGeom>
          <a:solidFill>
            <a:schemeClr val="accent1"/>
          </a:solidFill>
          <a:ln/>
        </p:spPr>
      </p:sp>
      <p:pic>
        <p:nvPicPr>
          <p:cNvPr id="5" name="Image 0" descr="FaTrophy">    </p:cNvPr>
          <p:cNvPicPr>
            <a:picLocks noChangeAspect="1"/>
          </p:cNvPicPr>
          <p:nvPr/>
        </p:nvPicPr>
        <p:blipFill>
          <a:blip r:embed="rId1"/>
          <a:stretch>
            <a:fillRect/>
          </a:stretch>
        </p:blipFill>
        <p:spPr>
          <a:xfrm>
            <a:off x="907816" y="1648480"/>
            <a:ext cx="269199" cy="269199"/>
          </a:xfrm>
          <a:prstGeom prst="rect">
            <a:avLst/>
          </a:prstGeom>
        </p:spPr>
      </p:pic>
      <p:sp>
        <p:nvSpPr>
          <p:cNvPr id="6" name="Text 3"/>
          <p:cNvSpPr txBox="1"/>
          <p:nvPr/>
        </p:nvSpPr>
        <p:spPr>
          <a:xfrm>
            <a:off x="1554480" y="1371600"/>
            <a:ext cx="6858000" cy="822960"/>
          </a:xfrm>
          <a:prstGeom prst="rect">
            <a:avLst/>
          </a:prstGeom>
          <a:noFill/>
          <a:ln/>
        </p:spPr>
        <p:txBody>
          <a:bodyPr wrap="square" lIns="0" tIns="0" rIns="0" bIns="0" rtlCol="0" anchor="ctr"/>
          <a:lstStyle/>
          <a:p>
            <a:pPr indent="0" marL="0">
              <a:buNone/>
            </a:pPr>
            <a:r>
              <a:rPr lang="en-US" sz="2200" b="1" dirty="0">
                <a:solidFill>
                  <a:schemeClr val="accent1"/>
                </a:solidFill>
              </a:rPr>
              <a:t>ERF &amp; URF </a:t>
            </a:r>
            <a:pPr indent="0" marL="0">
              <a:buNone/>
            </a:pPr>
            <a:r>
              <a:rPr lang="en-US" sz="2200" dirty="0">
                <a:solidFill>
                  <a:schemeClr val="tx1"/>
                </a:solidFill>
              </a:rPr>
              <a:t>staff are the top earners</a:t>
            </a:r>
            <a:endParaRPr lang="en-US" sz="2200" dirty="0"/>
          </a:p>
        </p:txBody>
      </p:sp>
      <p:sp>
        <p:nvSpPr>
          <p:cNvPr id="7" name="Row 2"/>
          <p:cNvSpPr/>
          <p:nvPr/>
        </p:nvSpPr>
        <p:spPr>
          <a:xfrm>
            <a:off x="548640" y="2377440"/>
            <a:ext cx="8046720" cy="822960"/>
          </a:xfrm>
          <a:prstGeom prst="roundRect">
            <a:avLst>
              <a:gd name="adj" fmla="val 13333"/>
            </a:avLst>
          </a:prstGeom>
          <a:solidFill>
            <a:schemeClr val="bg2"/>
          </a:solidFill>
          <a:ln/>
        </p:spPr>
      </p:sp>
      <p:sp>
        <p:nvSpPr>
          <p:cNvPr id="8" name="Shape 5"/>
          <p:cNvSpPr/>
          <p:nvPr/>
        </p:nvSpPr>
        <p:spPr>
          <a:xfrm>
            <a:off x="749808" y="2496312"/>
            <a:ext cx="585216" cy="585216"/>
          </a:xfrm>
          <a:prstGeom prst="ellipse">
            <a:avLst/>
          </a:prstGeom>
          <a:solidFill>
            <a:schemeClr val="accent1"/>
          </a:solidFill>
          <a:ln/>
        </p:spPr>
      </p:sp>
      <p:pic>
        <p:nvPicPr>
          <p:cNvPr id="9" name="Image 1" descr="FaHourglassHalf">    </p:cNvPr>
          <p:cNvPicPr>
            <a:picLocks noChangeAspect="1"/>
          </p:cNvPicPr>
          <p:nvPr/>
        </p:nvPicPr>
        <p:blipFill>
          <a:blip r:embed="rId2"/>
          <a:stretch>
            <a:fillRect/>
          </a:stretch>
        </p:blipFill>
        <p:spPr>
          <a:xfrm>
            <a:off x="907816" y="2654320"/>
            <a:ext cx="269199" cy="269199"/>
          </a:xfrm>
          <a:prstGeom prst="rect">
            <a:avLst/>
          </a:prstGeom>
        </p:spPr>
      </p:pic>
      <p:sp>
        <p:nvSpPr>
          <p:cNvPr id="10" name="Text 6"/>
          <p:cNvSpPr txBox="1"/>
          <p:nvPr/>
        </p:nvSpPr>
        <p:spPr>
          <a:xfrm>
            <a:off x="1554480" y="2377440"/>
            <a:ext cx="6858000" cy="822960"/>
          </a:xfrm>
          <a:prstGeom prst="rect">
            <a:avLst/>
          </a:prstGeom>
          <a:noFill/>
          <a:ln/>
        </p:spPr>
        <p:txBody>
          <a:bodyPr wrap="square" lIns="0" tIns="0" rIns="0" bIns="0" rtlCol="0" anchor="ctr"/>
          <a:lstStyle/>
          <a:p>
            <a:pPr indent="0" marL="0">
              <a:buNone/>
            </a:pPr>
            <a:r>
              <a:rPr lang="en-US" sz="2200" b="1" dirty="0">
                <a:solidFill>
                  <a:schemeClr val="accent1"/>
                </a:solidFill>
              </a:rPr>
              <a:t>Pay </a:t>
            </a:r>
            <a:pPr indent="0" marL="0">
              <a:buNone/>
            </a:pPr>
            <a:r>
              <a:rPr lang="en-US" sz="2200" dirty="0">
                <a:solidFill>
                  <a:schemeClr val="tx1"/>
                </a:solidFill>
              </a:rPr>
              <a:t>changes slowly over time</a:t>
            </a:r>
            <a:endParaRPr lang="en-US" sz="2200" dirty="0"/>
          </a:p>
        </p:txBody>
      </p:sp>
      <p:sp>
        <p:nvSpPr>
          <p:cNvPr id="11" name="Row 3"/>
          <p:cNvSpPr/>
          <p:nvPr/>
        </p:nvSpPr>
        <p:spPr>
          <a:xfrm>
            <a:off x="548640" y="3383280"/>
            <a:ext cx="8046720" cy="822960"/>
          </a:xfrm>
          <a:prstGeom prst="roundRect">
            <a:avLst>
              <a:gd name="adj" fmla="val 13333"/>
            </a:avLst>
          </a:prstGeom>
          <a:solidFill>
            <a:schemeClr val="bg2"/>
          </a:solidFill>
          <a:ln/>
        </p:spPr>
      </p:sp>
      <p:sp>
        <p:nvSpPr>
          <p:cNvPr id="12" name="Shape 8"/>
          <p:cNvSpPr/>
          <p:nvPr/>
        </p:nvSpPr>
        <p:spPr>
          <a:xfrm>
            <a:off x="749808" y="3502152"/>
            <a:ext cx="585216" cy="585216"/>
          </a:xfrm>
          <a:prstGeom prst="ellipse">
            <a:avLst/>
          </a:prstGeom>
          <a:solidFill>
            <a:schemeClr val="accent1"/>
          </a:solidFill>
          <a:ln/>
        </p:spPr>
      </p:sp>
      <p:pic>
        <p:nvPicPr>
          <p:cNvPr id="13" name="Image 2" descr="FaSitemap">    </p:cNvPr>
          <p:cNvPicPr>
            <a:picLocks noChangeAspect="1"/>
          </p:cNvPicPr>
          <p:nvPr/>
        </p:nvPicPr>
        <p:blipFill>
          <a:blip r:embed="rId3"/>
          <a:stretch>
            <a:fillRect/>
          </a:stretch>
        </p:blipFill>
        <p:spPr>
          <a:xfrm>
            <a:off x="907816" y="3660160"/>
            <a:ext cx="269199" cy="269199"/>
          </a:xfrm>
          <a:prstGeom prst="rect">
            <a:avLst/>
          </a:prstGeom>
        </p:spPr>
      </p:pic>
      <p:sp>
        <p:nvSpPr>
          <p:cNvPr id="14" name="Text 9"/>
          <p:cNvSpPr txBox="1"/>
          <p:nvPr/>
        </p:nvSpPr>
        <p:spPr>
          <a:xfrm>
            <a:off x="1554480" y="3383280"/>
            <a:ext cx="6858000" cy="822960"/>
          </a:xfrm>
          <a:prstGeom prst="rect">
            <a:avLst/>
          </a:prstGeom>
          <a:noFill/>
          <a:ln/>
        </p:spPr>
        <p:txBody>
          <a:bodyPr wrap="square" lIns="0" tIns="0" rIns="0" bIns="0" rtlCol="0" anchor="ctr"/>
          <a:lstStyle/>
          <a:p>
            <a:pPr indent="0" marL="0">
              <a:buNone/>
            </a:pPr>
            <a:r>
              <a:rPr lang="en-US" sz="2200" b="1" dirty="0">
                <a:solidFill>
                  <a:schemeClr val="accent1"/>
                </a:solidFill>
              </a:rPr>
              <a:t>Pay </a:t>
            </a:r>
            <a:pPr indent="0" marL="0">
              <a:buNone/>
            </a:pPr>
            <a:r>
              <a:rPr lang="en-US" sz="2200" dirty="0">
                <a:solidFill>
                  <a:schemeClr val="tx1"/>
                </a:solidFill>
              </a:rPr>
              <a:t>differs by role and department</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8046720" cy="82296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Conclusion</a:t>
            </a:r>
            <a:endParaRPr lang="en-US" sz="3600" dirty="0"/>
          </a:p>
        </p:txBody>
      </p:sp>
      <p:sp>
        <p:nvSpPr>
          <p:cNvPr id="3" name="Conclusion 1"/>
          <p:cNvSpPr/>
          <p:nvPr/>
        </p:nvSpPr>
        <p:spPr>
          <a:xfrm>
            <a:off x="548640" y="1280160"/>
            <a:ext cx="8046720" cy="640080"/>
          </a:xfrm>
          <a:prstGeom prst="roundRect">
            <a:avLst>
              <a:gd name="adj" fmla="val 17143"/>
            </a:avLst>
          </a:prstGeom>
          <a:solidFill>
            <a:schemeClr val="bg1"/>
          </a:solidFill>
          <a:ln/>
        </p:spPr>
      </p:sp>
      <p:sp>
        <p:nvSpPr>
          <p:cNvPr id="4" name="Shape 2"/>
          <p:cNvSpPr/>
          <p:nvPr/>
        </p:nvSpPr>
        <p:spPr>
          <a:xfrm>
            <a:off x="731520" y="1371600"/>
            <a:ext cx="457200" cy="457200"/>
          </a:xfrm>
          <a:prstGeom prst="ellipse">
            <a:avLst/>
          </a:prstGeom>
          <a:solidFill>
            <a:schemeClr val="accent1"/>
          </a:solidFill>
          <a:ln/>
        </p:spPr>
      </p:sp>
      <p:pic>
        <p:nvPicPr>
          <p:cNvPr id="5" name="Image 0" descr="Studied 1.5 lakh Texas employee records">    </p:cNvPr>
          <p:cNvPicPr>
            <a:picLocks noChangeAspect="1"/>
          </p:cNvPicPr>
          <p:nvPr/>
        </p:nvPicPr>
        <p:blipFill>
          <a:blip r:embed="rId1"/>
          <a:stretch>
            <a:fillRect/>
          </a:stretch>
        </p:blipFill>
        <p:spPr>
          <a:xfrm>
            <a:off x="850392" y="1490472"/>
            <a:ext cx="219456" cy="219456"/>
          </a:xfrm>
          <a:prstGeom prst="rect">
            <a:avLst/>
          </a:prstGeom>
        </p:spPr>
      </p:pic>
      <p:sp>
        <p:nvSpPr>
          <p:cNvPr id="6" name="Text 3"/>
          <p:cNvSpPr txBox="1"/>
          <p:nvPr/>
        </p:nvSpPr>
        <p:spPr>
          <a:xfrm>
            <a:off x="1463040" y="1280160"/>
            <a:ext cx="6949440" cy="640080"/>
          </a:xfrm>
          <a:prstGeom prst="rect">
            <a:avLst/>
          </a:prstGeom>
          <a:noFill/>
          <a:ln/>
        </p:spPr>
        <p:txBody>
          <a:bodyPr wrap="square" lIns="0" tIns="0" rIns="0" bIns="0" rtlCol="0" anchor="ctr"/>
          <a:lstStyle/>
          <a:p>
            <a:pPr indent="0" marL="0">
              <a:buNone/>
            </a:pPr>
            <a:r>
              <a:rPr lang="en-US" sz="2000" dirty="0">
                <a:solidFill>
                  <a:schemeClr val="tx1"/>
                </a:solidFill>
              </a:rPr>
              <a:t>Studied 1.5 lakh Texas employee records</a:t>
            </a:r>
            <a:endParaRPr lang="en-US" sz="2000" dirty="0"/>
          </a:p>
        </p:txBody>
      </p:sp>
      <p:sp>
        <p:nvSpPr>
          <p:cNvPr id="7" name="Conclusion 2"/>
          <p:cNvSpPr/>
          <p:nvPr/>
        </p:nvSpPr>
        <p:spPr>
          <a:xfrm>
            <a:off x="548640" y="2057400"/>
            <a:ext cx="8046720" cy="640080"/>
          </a:xfrm>
          <a:prstGeom prst="roundRect">
            <a:avLst>
              <a:gd name="adj" fmla="val 17143"/>
            </a:avLst>
          </a:prstGeom>
          <a:solidFill>
            <a:schemeClr val="bg1"/>
          </a:solidFill>
          <a:ln/>
        </p:spPr>
      </p:sp>
      <p:sp>
        <p:nvSpPr>
          <p:cNvPr id="8" name="Shape 5"/>
          <p:cNvSpPr/>
          <p:nvPr/>
        </p:nvSpPr>
        <p:spPr>
          <a:xfrm>
            <a:off x="731520" y="2148840"/>
            <a:ext cx="457200" cy="457200"/>
          </a:xfrm>
          <a:prstGeom prst="ellipse">
            <a:avLst/>
          </a:prstGeom>
          <a:solidFill>
            <a:schemeClr val="accent1"/>
          </a:solidFill>
          <a:ln/>
        </p:spPr>
      </p:sp>
      <p:pic>
        <p:nvPicPr>
          <p:cNvPr id="9" name="Image 1" descr="Pay depends on agency, status and more">    </p:cNvPr>
          <p:cNvPicPr>
            <a:picLocks noChangeAspect="1"/>
          </p:cNvPicPr>
          <p:nvPr/>
        </p:nvPicPr>
        <p:blipFill>
          <a:blip r:embed="rId2"/>
          <a:stretch>
            <a:fillRect/>
          </a:stretch>
        </p:blipFill>
        <p:spPr>
          <a:xfrm>
            <a:off x="850392" y="2267712"/>
            <a:ext cx="219456" cy="219456"/>
          </a:xfrm>
          <a:prstGeom prst="rect">
            <a:avLst/>
          </a:prstGeom>
        </p:spPr>
      </p:pic>
      <p:sp>
        <p:nvSpPr>
          <p:cNvPr id="10" name="Text 6"/>
          <p:cNvSpPr txBox="1"/>
          <p:nvPr/>
        </p:nvSpPr>
        <p:spPr>
          <a:xfrm>
            <a:off x="1463040" y="2057400"/>
            <a:ext cx="6949440" cy="640080"/>
          </a:xfrm>
          <a:prstGeom prst="rect">
            <a:avLst/>
          </a:prstGeom>
          <a:noFill/>
          <a:ln/>
        </p:spPr>
        <p:txBody>
          <a:bodyPr wrap="square" lIns="0" tIns="0" rIns="0" bIns="0" rtlCol="0" anchor="ctr"/>
          <a:lstStyle/>
          <a:p>
            <a:pPr indent="0" marL="0">
              <a:buNone/>
            </a:pPr>
            <a:r>
              <a:rPr lang="en-US" sz="2000" dirty="0">
                <a:solidFill>
                  <a:schemeClr val="tx1"/>
                </a:solidFill>
              </a:rPr>
              <a:t>Pay depends on agency, status and more</a:t>
            </a:r>
            <a:endParaRPr lang="en-US" sz="2000" dirty="0"/>
          </a:p>
        </p:txBody>
      </p:sp>
      <p:sp>
        <p:nvSpPr>
          <p:cNvPr id="11" name="Conclusion 3"/>
          <p:cNvSpPr/>
          <p:nvPr/>
        </p:nvSpPr>
        <p:spPr>
          <a:xfrm>
            <a:off x="548640" y="2834640"/>
            <a:ext cx="8046720" cy="640080"/>
          </a:xfrm>
          <a:prstGeom prst="roundRect">
            <a:avLst>
              <a:gd name="adj" fmla="val 17143"/>
            </a:avLst>
          </a:prstGeom>
          <a:solidFill>
            <a:schemeClr val="bg1"/>
          </a:solidFill>
          <a:ln/>
        </p:spPr>
      </p:sp>
      <p:sp>
        <p:nvSpPr>
          <p:cNvPr id="12" name="Shape 8"/>
          <p:cNvSpPr/>
          <p:nvPr/>
        </p:nvSpPr>
        <p:spPr>
          <a:xfrm>
            <a:off x="731520" y="2926080"/>
            <a:ext cx="457200" cy="457200"/>
          </a:xfrm>
          <a:prstGeom prst="ellipse">
            <a:avLst/>
          </a:prstGeom>
          <a:solidFill>
            <a:schemeClr val="accent1"/>
          </a:solidFill>
          <a:ln/>
        </p:spPr>
      </p:sp>
      <p:pic>
        <p:nvPicPr>
          <p:cNvPr id="13" name="Image 2" descr="Next: remove Monthly and test again">    </p:cNvPr>
          <p:cNvPicPr>
            <a:picLocks noChangeAspect="1"/>
          </p:cNvPicPr>
          <p:nvPr/>
        </p:nvPicPr>
        <p:blipFill>
          <a:blip r:embed="rId3"/>
          <a:stretch>
            <a:fillRect/>
          </a:stretch>
        </p:blipFill>
        <p:spPr>
          <a:xfrm>
            <a:off x="850392" y="3044952"/>
            <a:ext cx="219456" cy="219456"/>
          </a:xfrm>
          <a:prstGeom prst="rect">
            <a:avLst/>
          </a:prstGeom>
        </p:spPr>
      </p:pic>
      <p:sp>
        <p:nvSpPr>
          <p:cNvPr id="14" name="Text 9"/>
          <p:cNvSpPr txBox="1"/>
          <p:nvPr/>
        </p:nvSpPr>
        <p:spPr>
          <a:xfrm>
            <a:off x="1463040" y="2834640"/>
            <a:ext cx="6949440" cy="640080"/>
          </a:xfrm>
          <a:prstGeom prst="rect">
            <a:avLst/>
          </a:prstGeom>
          <a:noFill/>
          <a:ln/>
        </p:spPr>
        <p:txBody>
          <a:bodyPr wrap="square" lIns="0" tIns="0" rIns="0" bIns="0" rtlCol="0" anchor="ctr"/>
          <a:lstStyle/>
          <a:p>
            <a:pPr indent="0" marL="0">
              <a:buNone/>
            </a:pPr>
            <a:r>
              <a:rPr lang="en-US" sz="2000" dirty="0">
                <a:solidFill>
                  <a:schemeClr val="tx1"/>
                </a:solidFill>
              </a:rPr>
              <a:t>Next: remove Monthly and test again</a:t>
            </a:r>
            <a:endParaRPr lang="en-US" sz="2000" dirty="0"/>
          </a:p>
        </p:txBody>
      </p:sp>
      <p:sp>
        <p:nvSpPr>
          <p:cNvPr id="15" name="Text 10"/>
          <p:cNvSpPr txBox="1"/>
          <p:nvPr/>
        </p:nvSpPr>
        <p:spPr>
          <a:xfrm>
            <a:off x="548640" y="3840480"/>
            <a:ext cx="8046720" cy="82296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Thank You!  Any questions?</a:t>
            </a:r>
            <a:endParaRPr lang="en-US" sz="3400" dirty="0"/>
          </a:p>
        </p:txBody>
      </p:sp>
    </p:spTree>
  </p:cSld>
  <p:clrMapOvr>
    <a:masterClrMapping/>
  </p:clrMapOvr>
</p:sld>
</file>

<file path=ppt/theme/theme1.xml><?xml version="1.0" encoding="utf-8"?>
<a:theme xmlns:a="http://schemas.openxmlformats.org/drawingml/2006/main" name="Texas Salary Light">
  <a:themeElements>
    <a:clrScheme name="Texas Salary Light">
      <a:dk1>
        <a:srgbClr val="1B2A49"/>
      </a:dk1>
      <a:lt1>
        <a:srgbClr val="FFFFFF"/>
      </a:lt1>
      <a:dk2>
        <a:srgbClr val="3D5A80"/>
      </a:dk2>
      <a:lt2>
        <a:srgbClr val="EAF2FB"/>
      </a:lt2>
      <a:accent1>
        <a:srgbClr val="2A9D8F"/>
      </a:accent1>
      <a:accent2>
        <a:srgbClr val="C8553D"/>
      </a:accent2>
      <a:accent3>
        <a:srgbClr val="E9C46A"/>
      </a:accent3>
      <a:accent4>
        <a:srgbClr val="3D5A80"/>
      </a:accent4>
      <a:accent5>
        <a:srgbClr val="8D99AE"/>
      </a:accent5>
      <a:accent6>
        <a:srgbClr val="6D597A"/>
      </a:accent6>
      <a:hlink>
        <a:srgbClr val="3D5A80"/>
      </a:hlink>
      <a:folHlink>
        <a:srgbClr val="6D597A"/>
      </a:folHlink>
    </a:clrScheme>
    <a:fontScheme name="Texas Salary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State Employee Salary</dc:title>
  <dc:subject>PptxGenJS Presentation</dc:subject>
  <dc:creator>PptxGenJS</dc:creator>
  <cp:lastModifiedBy>PptxGenJS</cp:lastModifiedBy>
  <cp:revision>1</cp:revision>
  <dcterms:created xsi:type="dcterms:W3CDTF">2026-10-08T10:24:14Z</dcterms:created>
  <dcterms:modified xsi:type="dcterms:W3CDTF">2026-10-08T10:24:14Z</dcterms:modified>
</cp:coreProperties>
</file>